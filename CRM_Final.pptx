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60" r:id="rId5"/>
    <p:sldId id="261" r:id="rId6"/>
    <p:sldId id="275" r:id="rId7"/>
    <p:sldId id="276" r:id="rId8"/>
    <p:sldId id="267" r:id="rId9"/>
    <p:sldId id="268" r:id="rId10"/>
    <p:sldId id="277" r:id="rId11"/>
    <p:sldId id="263" r:id="rId12"/>
    <p:sldId id="265" r:id="rId13"/>
    <p:sldId id="269" r:id="rId14"/>
    <p:sldId id="274"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A960240-E348-6FB5-4431-30C03BE043BE}">
          <p14:sldIdLst>
            <p14:sldId id="256"/>
            <p14:sldId id="257"/>
          </p14:sldIdLst>
        </p14:section>
        <p14:section name="Scenario A: original data" id="{A27F2EF0-0E70-FFF2-48F3-B7D3A864B71D}">
          <p14:sldIdLst>
            <p14:sldId id="258"/>
            <p14:sldId id="260"/>
            <p14:sldId id="261"/>
            <p14:sldId id="275"/>
            <p14:sldId id="276"/>
          </p14:sldIdLst>
        </p14:section>
        <p14:section name="Scenario B: simulated data" id="{543797B1-51CB-0DFF-4A40-E5F6E881E2B2}">
          <p14:sldIdLst>
            <p14:sldId id="267"/>
            <p14:sldId id="268"/>
            <p14:sldId id="277"/>
            <p14:sldId id="263"/>
            <p14:sldId id="265"/>
            <p14:sldId id="269"/>
            <p14:sldId id="274"/>
            <p14:sldId id="270"/>
          </p14:sldIdLst>
        </p14:section>
        <p14:section name="Conclusion" id="{68CB6E84-4F43-2850-4527-6D43A96D3A5A}">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2"/>
    <p:restoredTop sz="74821"/>
  </p:normalViewPr>
  <p:slideViewPr>
    <p:cSldViewPr snapToGrid="0" snapToObjects="1">
      <p:cViewPr varScale="1">
        <p:scale>
          <a:sx n="108" d="100"/>
          <a:sy n="108" d="100"/>
        </p:scale>
        <p:origin x="1792" y="20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E3B43"/>
                </a:solidFill>
                <a:latin typeface="+mn-lt"/>
              </a:defRPr>
            </a:pPr>
            <a:r>
              <a:rPr lang="en-US" sz="1400" b="0" i="0" u="none" strike="noStrike">
                <a:solidFill>
                  <a:srgbClr val="0E3B43"/>
                </a:solidFill>
                <a:latin typeface="+mn-lt"/>
              </a:rPr>
              <a:t>Deal stage of all 8,800 opportunities</a:t>
            </a:r>
          </a:p>
        </c:rich>
      </c:tx>
      <c:overlay val="0"/>
    </c:title>
    <c:autoTitleDeleted val="0"/>
    <c:plotArea>
      <c:layout/>
      <c:doughnutChart>
        <c:varyColors val="1"/>
        <c:ser>
          <c:idx val="0"/>
          <c:order val="0"/>
          <c:tx>
            <c:strRef>
              <c:f>Sheet1!$B$1</c:f>
              <c:strCache>
                <c:ptCount val="1"/>
                <c:pt idx="0">
                  <c:v>Deal stage</c:v>
                </c:pt>
              </c:strCache>
            </c:strRef>
          </c:tx>
          <c:spPr>
            <a:solidFill>
              <a:schemeClr val="accent1"/>
            </a:solidFill>
            <a:ln w="9525" cap="flat">
              <a:solidFill>
                <a:srgbClr val="F9F9F9"/>
              </a:solidFill>
              <a:prstDash val="solid"/>
              <a:round/>
            </a:ln>
            <a:effectLst/>
          </c:spPr>
          <c:dPt>
            <c:idx val="0"/>
            <c:bubble3D val="0"/>
            <c:spPr>
              <a:solidFill>
                <a:srgbClr val="0F7A6C"/>
              </a:solidFill>
              <a:effectLst/>
            </c:spPr>
            <c:extLst>
              <c:ext xmlns:c16="http://schemas.microsoft.com/office/drawing/2014/chart" uri="{C3380CC4-5D6E-409C-BE32-E72D297353CC}">
                <c16:uniqueId val="{00000001-3713-B543-BCF2-E8B30A0A96CE}"/>
              </c:ext>
            </c:extLst>
          </c:dPt>
          <c:dPt>
            <c:idx val="1"/>
            <c:bubble3D val="0"/>
            <c:spPr>
              <a:solidFill>
                <a:srgbClr val="D2554E"/>
              </a:solidFill>
              <a:effectLst/>
            </c:spPr>
            <c:extLst>
              <c:ext xmlns:c16="http://schemas.microsoft.com/office/drawing/2014/chart" uri="{C3380CC4-5D6E-409C-BE32-E72D297353CC}">
                <c16:uniqueId val="{00000003-3713-B543-BCF2-E8B30A0A96CE}"/>
              </c:ext>
            </c:extLst>
          </c:dPt>
          <c:dPt>
            <c:idx val="2"/>
            <c:bubble3D val="0"/>
            <c:spPr>
              <a:solidFill>
                <a:srgbClr val="E39B2E"/>
              </a:solidFill>
              <a:effectLst/>
            </c:spPr>
            <c:extLst>
              <c:ext xmlns:c16="http://schemas.microsoft.com/office/drawing/2014/chart" uri="{C3380CC4-5D6E-409C-BE32-E72D297353CC}">
                <c16:uniqueId val="{00000005-3713-B543-BCF2-E8B30A0A96CE}"/>
              </c:ext>
            </c:extLst>
          </c:dPt>
          <c:dPt>
            <c:idx val="3"/>
            <c:bubble3D val="0"/>
            <c:spPr>
              <a:solidFill>
                <a:srgbClr val="9CC5BB"/>
              </a:solidFill>
              <a:effectLst/>
            </c:spPr>
            <c:extLst>
              <c:ext xmlns:c16="http://schemas.microsoft.com/office/drawing/2014/chart" uri="{C3380CC4-5D6E-409C-BE32-E72D297353CC}">
                <c16:uniqueId val="{00000007-3713-B543-BCF2-E8B30A0A96CE}"/>
              </c:ext>
            </c:extLst>
          </c:dPt>
          <c:dLbls>
            <c:dLbl>
              <c:idx val="0"/>
              <c:numFmt formatCode="General"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713-B543-BCF2-E8B30A0A96CE}"/>
                </c:ext>
              </c:extLst>
            </c:dLbl>
            <c:dLbl>
              <c:idx val="1"/>
              <c:numFmt formatCode="General"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713-B543-BCF2-E8B30A0A96CE}"/>
                </c:ext>
              </c:extLst>
            </c:dLbl>
            <c:dLbl>
              <c:idx val="2"/>
              <c:numFmt formatCode="General"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713-B543-BCF2-E8B30A0A96CE}"/>
                </c:ext>
              </c:extLst>
            </c:dLbl>
            <c:dLbl>
              <c:idx val="3"/>
              <c:numFmt formatCode="General"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713-B543-BCF2-E8B30A0A96CE}"/>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Won</c:v>
                </c:pt>
                <c:pt idx="1">
                  <c:v>Lost</c:v>
                </c:pt>
                <c:pt idx="2">
                  <c:v>Engaging (open)</c:v>
                </c:pt>
                <c:pt idx="3">
                  <c:v>Prospecting (open)</c:v>
                </c:pt>
              </c:strCache>
            </c:strRef>
          </c:cat>
          <c:val>
            <c:numRef>
              <c:f>Sheet1!$B$2:$B$5</c:f>
              <c:numCache>
                <c:formatCode>General</c:formatCode>
                <c:ptCount val="4"/>
                <c:pt idx="0">
                  <c:v>4238</c:v>
                </c:pt>
                <c:pt idx="1">
                  <c:v>2473</c:v>
                </c:pt>
                <c:pt idx="2">
                  <c:v>1589</c:v>
                </c:pt>
                <c:pt idx="3">
                  <c:v>500</c:v>
                </c:pt>
              </c:numCache>
            </c:numRef>
          </c:val>
          <c:extLst>
            <c:ext xmlns:c16="http://schemas.microsoft.com/office/drawing/2014/chart" uri="{C3380CC4-5D6E-409C-BE32-E72D297353CC}">
              <c16:uniqueId val="{00000008-3713-B543-BCF2-E8B30A0A96CE}"/>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1300">
              <a:solidFill>
                <a:srgbClr val="16232E"/>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E3B43"/>
                </a:solidFill>
                <a:latin typeface="+mn-lt"/>
              </a:defRPr>
            </a:pPr>
            <a:r>
              <a:rPr sz="1400" b="0" i="0" u="none" strike="noStrike">
                <a:solidFill>
                  <a:srgbClr val="0E3B43"/>
                </a:solidFill>
                <a:latin typeface="+mn-lt"/>
              </a:rPr>
              <a:t>Test ROC-AUC on simulated data (Dummy 0.500)</a:t>
            </a:r>
          </a:p>
        </c:rich>
      </c:tx>
      <c:overlay val="0"/>
    </c:title>
    <c:autoTitleDeleted val="0"/>
    <c:plotArea>
      <c:layout/>
      <c:barChart>
        <c:barDir val="col"/>
        <c:grouping val="clustered"/>
        <c:varyColors val="0"/>
        <c:ser>
          <c:idx val="0"/>
          <c:order val="0"/>
          <c:tx>
            <c:strRef>
              <c:f>Sheet1!$B$1</c:f>
              <c:strCache>
                <c:ptCount val="1"/>
                <c:pt idx="0">
                  <c:v>Test ROC-AUC</c:v>
                </c:pt>
              </c:strCache>
            </c:strRef>
          </c:tx>
          <c:spPr>
            <a:solidFill>
              <a:srgbClr val="0F7A6C"/>
            </a:solidFill>
            <a:effectLst/>
          </c:spPr>
          <c:invertIfNegative val="0"/>
          <c:dPt>
            <c:idx val="4"/>
            <c:invertIfNegative val="1"/>
            <c:bubble3D val="0"/>
            <c:spPr>
              <a:solidFill>
                <a:srgbClr val="9AA5A3"/>
              </a:solidFill>
            </c:spPr>
            <c:extLst>
              <c:ext xmlns:c16="http://schemas.microsoft.com/office/drawing/2014/chart" uri="{C3380CC4-5D6E-409C-BE32-E72D297353CC}">
                <c16:uniqueId val="{00000001-6AB6-4C4D-A4AC-60D70A0A689D}"/>
              </c:ext>
            </c:extLst>
          </c:dPt>
          <c:dLbls>
            <c:numFmt formatCode="0.000" sourceLinked="0"/>
            <c:spPr>
              <a:noFill/>
              <a:ln>
                <a:noFill/>
              </a:ln>
              <a:effectLst/>
            </c:spPr>
            <c:txPr>
              <a:bodyPr/>
              <a:lstStyle/>
              <a:p>
                <a:pPr>
                  <a:defRPr sz="1100" b="0" i="0" u="none" strike="noStrike">
                    <a:solidFill>
                      <a:srgbClr val="1623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Logistic Regression</c:v>
                </c:pt>
                <c:pt idx="1">
                  <c:v>Random Forest</c:v>
                </c:pt>
                <c:pt idx="2">
                  <c:v>MLP</c:v>
                </c:pt>
                <c:pt idx="3">
                  <c:v>TabNet</c:v>
                </c:pt>
                <c:pt idx="4">
                  <c:v>Oracle</c:v>
                </c:pt>
              </c:strCache>
            </c:strRef>
          </c:cat>
          <c:val>
            <c:numRef>
              <c:f>Sheet1!$B$2:$B$6</c:f>
              <c:numCache>
                <c:formatCode>General</c:formatCode>
                <c:ptCount val="5"/>
                <c:pt idx="0">
                  <c:v>0.80900000000000005</c:v>
                </c:pt>
                <c:pt idx="1">
                  <c:v>0.86399999999999999</c:v>
                </c:pt>
                <c:pt idx="2">
                  <c:v>0.86599999999999999</c:v>
                </c:pt>
                <c:pt idx="3">
                  <c:v>0.86899999999999999</c:v>
                </c:pt>
                <c:pt idx="4">
                  <c:v>0.878</c:v>
                </c:pt>
              </c:numCache>
            </c:numRef>
          </c:val>
          <c:extLst>
            <c:ext xmlns:c16="http://schemas.microsoft.com/office/drawing/2014/chart" uri="{C3380CC4-5D6E-409C-BE32-E72D297353CC}">
              <c16:uniqueId val="{00000002-6AB6-4C4D-A4AC-60D70A0A689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083"/>
                </a:solidFill>
                <a:latin typeface="+mn-lt"/>
              </a:defRPr>
            </a:pPr>
            <a:endParaRPr lang="en-US"/>
          </a:p>
        </c:txPr>
        <c:crossAx val="2094734552"/>
        <c:crosses val="autoZero"/>
        <c:auto val="1"/>
        <c:lblAlgn val="ctr"/>
        <c:lblOffset val="100"/>
        <c:noMultiLvlLbl val="1"/>
      </c:catAx>
      <c:valAx>
        <c:axId val="2094734552"/>
        <c:scaling>
          <c:orientation val="minMax"/>
          <c:max val="0.9"/>
          <c:min val="0.5"/>
        </c:scaling>
        <c:delete val="0"/>
        <c:axPos val="l"/>
        <c:majorGridlines>
          <c:spPr>
            <a:ln w="9525" cap="flat">
              <a:solidFill>
                <a:srgbClr val="DCE5E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083"/>
                </a:solidFill>
                <a:latin typeface="+mn-lt"/>
              </a:defRPr>
            </a:pPr>
            <a:endParaRPr lang="en-US"/>
          </a:p>
        </c:txPr>
        <c:crossAx val="2094734554"/>
        <c:crosses val="autoZero"/>
        <c:crossBetween val="between"/>
        <c:majorUnit val="0.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1827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sz="1700" baseline="0" dirty="0"/>
              <a:t>Hello everyone. We are Group 2. Our project is Predicting CRM Sales Opportunities Using Machine Learning. </a:t>
            </a:r>
            <a:endParaRPr lang="vi-VN" sz="1700" baseline="0" dirty="0"/>
          </a:p>
          <a:p>
            <a:pPr lvl="0"/>
            <a:r>
              <a:rPr sz="1700" baseline="0" dirty="0"/>
              <a:t>We predict whether a sales opportunity will be Won or Lost, and we show which factors influence the score.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input is four CRM tables: pipeline, accounts, products and sales teams. </a:t>
            </a:r>
            <a:endParaRPr lang="en-US" dirty="0"/>
          </a:p>
          <a:p>
            <a:r>
              <a:rPr dirty="0"/>
              <a:t>We train five models, including a Dummy control. </a:t>
            </a:r>
            <a:endParaRPr lang="en-US" dirty="0"/>
          </a:p>
          <a:p>
            <a:r>
              <a:rPr dirty="0"/>
              <a:t>The output is a win probability for each open deal, plus the factors that move the score</a:t>
            </a:r>
            <a:r>
              <a:rPr lang="en-US" dirty="0"/>
              <a:t>.</a:t>
            </a:r>
          </a:p>
          <a:p>
            <a:r>
              <a:rPr dirty="0"/>
              <a:t>We show two scenarios. </a:t>
            </a:r>
            <a:endParaRPr lang="en-US" dirty="0"/>
          </a:p>
          <a:p>
            <a:r>
              <a:rPr dirty="0"/>
              <a:t>Scenario A uses the original Maven CRM data and gives our reported results. </a:t>
            </a:r>
            <a:endParaRPr lang="en-US" dirty="0"/>
          </a:p>
          <a:p>
            <a:r>
              <a:rPr dirty="0"/>
              <a:t>Scenario B runs the same models on</a:t>
            </a:r>
            <a:r>
              <a:rPr lang="vi-VN" dirty="0"/>
              <a:t> </a:t>
            </a:r>
            <a:r>
              <a:rPr lang="en-US" dirty="0"/>
              <a:t>Maven CRM plus</a:t>
            </a:r>
            <a:r>
              <a:rPr dirty="0"/>
              <a:t> simulated data, to check that the pipeline finds signal when signal exists.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data is the Maven Analytics CRM dataset: a fictitious company that sells computer hardware to businesses. </a:t>
            </a:r>
            <a:endParaRPr lang="vi-VN" dirty="0"/>
          </a:p>
          <a:p>
            <a:r>
              <a:rPr dirty="0"/>
              <a:t>It has 88</a:t>
            </a:r>
            <a:r>
              <a:rPr lang="vi-VN" dirty="0"/>
              <a:t> hundreds (88</a:t>
            </a:r>
            <a:r>
              <a:rPr dirty="0"/>
              <a:t>00</a:t>
            </a:r>
            <a:r>
              <a:rPr lang="vi-VN" dirty="0"/>
              <a:t>)</a:t>
            </a:r>
            <a:r>
              <a:rPr dirty="0"/>
              <a:t> opportunities, 85 accounts, 7 products and 35 sales agents. We join the four tables and fix two spelling problems in the raw data. We train only on the 6,711 closed deals: 4,238 Won and 2,473 Lost. Open deals are scored, never treated as Lost.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 split by time, not at random. Train has 2,975 deals, validation 583 and test 1,361. Deals from the same date stay together. We purged 1,792 rows whose outcomes were not known at the cutoff, so the model never learns from the future. Preprocessing is fit on the training set only. We also checked whether this matters: a random split gives at most 0.04 higher AUC, and every protocol is still near chance. So the split is a safeguard, not the reason our scores are low.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trained a Dummy control, Logistic Regression, Random Forest, MLP and TabNet on the same rows and the same preprocessing. The model, the threshold and the calibration are all chosen on validation. Logistic Regression had the best validation ROC-AUC, 0.563, so it was selected before we looked at test. The threshold maximises macro-F1 on validation instead of using 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Before comparing results, here is how the two deep models differ. </a:t>
            </a:r>
            <a:endParaRPr lang="en-US" dirty="0"/>
          </a:p>
          <a:p>
            <a:r>
              <a:rPr dirty="0"/>
              <a:t>An MLP is a stack of fully connected layers. </a:t>
            </a:r>
            <a:endParaRPr lang="en-US" dirty="0"/>
          </a:p>
          <a:p>
            <a:r>
              <a:rPr dirty="0"/>
              <a:t>Every neuron looks at every input, and the network learns interactions inside its weighted sums.</a:t>
            </a:r>
            <a:endParaRPr lang="en-US" dirty="0"/>
          </a:p>
          <a:p>
            <a:r>
              <a:rPr dirty="0"/>
              <a:t>Ours has two hidden layers, 64 and 32 units. It has no built-in idea of which inputs matter, so we explain it with methods like permutation importance or SHAP. </a:t>
            </a:r>
            <a:endParaRPr lang="en-US" dirty="0"/>
          </a:p>
          <a:p>
            <a:r>
              <a:rPr dirty="0" err="1"/>
              <a:t>TabNet</a:t>
            </a:r>
            <a:r>
              <a:rPr dirty="0"/>
              <a:t> was designed for tabular data. It works in several steps. At each step, an attention module chooses a small set of inputs for that particular deal, using a sparse mask. Only those inputs are processed in that step, and the results of all steps are added together. This makes </a:t>
            </a:r>
            <a:r>
              <a:rPr dirty="0" err="1"/>
              <a:t>TabNet</a:t>
            </a:r>
            <a:r>
              <a:rPr dirty="0"/>
              <a:t> behave a bit like a sequence of decision-tree splits, and the masks show which inputs it used for each deal. The cost is more hyperparameters and slower training.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original data has almost no signal. The win rate is nearly the same for every product, sector and agent, and the file has no deal-level information such as discounts or contacts. The simulated data keeps the same format but adds a signal we wrote ourselves, so we know the true answer and the best possible score. It only tests the pipeline; it says nothing about real sales.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Low scores could mean the data has no signal, or that our pipeline is broken. To tell these apart, we ran the same pipeline on simulated data where we know the signal exists.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800" dirty="0"/>
              <a:t>The simulated data </a:t>
            </a:r>
            <a:r>
              <a:rPr sz="1200" dirty="0"/>
              <a:t>reuses</a:t>
            </a:r>
            <a:r>
              <a:rPr sz="1800" dirty="0"/>
              <a:t> the real accounts, agents and products, and matches the real date range and win rate. </a:t>
            </a:r>
            <a:endParaRPr lang="vi-VN" sz="1800" dirty="0"/>
          </a:p>
          <a:p>
            <a:r>
              <a:rPr sz="1800" dirty="0"/>
              <a:t>We added new products, competitor products and industry trends. </a:t>
            </a:r>
            <a:endParaRPr lang="vi-VN" sz="1800" dirty="0"/>
          </a:p>
          <a:p>
            <a:r>
              <a:rPr sz="1800" dirty="0"/>
              <a:t>Each deal's win probability comes from a formula we wrote, including interaction effects such as an expensive product sold to a small account</a:t>
            </a:r>
            <a:endParaRPr lang="vi-VN" sz="1800" dirty="0"/>
          </a:p>
          <a:p>
            <a:r>
              <a:rPr sz="1800" dirty="0"/>
              <a:t>Because we wrote the formula, we know the true probability, which gives us the oracle: the best possible score. It is never used as a feature.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a short live demo. We run the three notebooks for the original data in order: 1_train fits the five models and selects one on validation, 2_evaluate computes the test metrics and figures from the saved models, and 3_predict scores the open deals and shows the factors behind one score. If time allows, we show the same three steps on the simulated data. After the demo we go through the results.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main result on the original data. Test ROC-AUC is between 0.495 and 0.524 for all models, and 0.5 means random ranking. The selected Logistic Regression has 0.524. Its recall is low because its threshold, chosen on validation, is strict. The Dummy gets 60 percent accuracy only because about 60 percent of deals are Won and it always predicts Won, so accuracy alone is misleading. Calibration improved the Brier score of Logistic Regression from 0.2794 to 0.2443, but that is still slightly worse than the Dummy, and it does not change the ranking.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scored 1,589 Engaging deals. Win and loss probabilities sum to one. 1,088 have a missing account and are flagged. Each deal gets a priority band and the factors that raise or lower its score: we reset one input at a time to its training median or mode and measure the change in win probability. This example is the highest-scored deal. We checked that these factors describe the model: on the Random Forest they agree with TreeSHAP, with a median Spearman correlation of 0.76, and resetting a deal's top three factors moves the score 3.1 times more than resetting three random ones. They show what the model reacts to, not causes, and the priority bands are a heuristic that has not been validated.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simulated data, test ROC-AUC is 0.809 for Logistic Regression, 0.864 for Random Forest, 0.866 for MLP and 0.869 for TabNet. The best possible is 0.878. So the nonlinear models recover nearly all the planted signal. Over five newly generated datasets the result holds, with standard deviations under 0.01. Nonlinear models win partly because we built the data with interactions.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MLP and TabNet are neural networks, so this is the fairest deep-learning comparison. On the real data TabNet scores 0.507 and the MLP 0.495. But the 95 percent confidence interval for the difference goes from minus 0.030 to plus 0.054, so it is not a real win. On simulated data they are within 0.002 AUC: TabNet is ahead in four of five seeds with interactions, and three of five with smooth signals. TabNet is about 27 times slower to train here, and 35 times slower on 100,000 deals. What TabNet does give us is built-in attention, which shows the features each decision step used. The MLP needs a separate method for that.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Putting the two scenarios together: on the original data every model is near 0.52, and on simulated data with real signal the same pipeline reaches about 0.87. So the low scores come from the original data, not from the pipeline. The simulated scores are not real-world performance, and we never mix them into our reported results.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contribution is not a new algorithm. It is a careful workflow where each part has evidence. The explanations move the score three times more than random factors. A random split changes AUC by at most 0.04, so our split is a safeguard, not a trick. Missing accounts are flagged. And the simulation shows the pipeline learns when signal exists. Everything runs on a CPU, either with one command or step by step in notebooks.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results do not yet show the model helps sales prioritisation. Limitations: closed-only bias, validation reuse, static snapshots, repeated accounts, and the data was examined in earlier attempts, so the test set is not pristine. The simulated win rule is invented, so it says nothing about real sales. The most useful next step is richer engagement data, such as calls, emails and response times.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We are happy to take questions. Likely questions: Why are the scores so low? The available features carry little signal. Why does the Dummy have high accuracy? About 60 percent of closed deals are Won. Is simulated data cheating? No: it only checks the pipeline, and our reported results use the original data.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9601200" cy="1737360"/>
          </a:xfrm>
          <a:prstGeom prst="rect">
            <a:avLst/>
          </a:prstGeom>
          <a:noFill/>
          <a:ln/>
        </p:spPr>
        <p:txBody>
          <a:bodyPr wrap="square" rtlCol="0"/>
          <a:lstStyle>
            <a:lvl1pPr marL="0" indent="0" algn="l">
              <a:buNone/>
              <a:defRPr lang="en-US" sz="42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200" dirty="0"/>
          </a:p>
        </p:txBody>
      </p:sp>
      <p:sp>
        <p:nvSpPr>
          <p:cNvPr id="3" name="Text 0"/>
          <p:cNvSpPr>
            <a:spLocks noGrp="1"/>
          </p:cNvSpPr>
          <p:nvPr>
            <p:ph type="body" idx="101" hasCustomPrompt="1"/>
          </p:nvPr>
        </p:nvSpPr>
        <p:spPr>
          <a:xfrm>
            <a:off x="548640" y="3794760"/>
            <a:ext cx="9601200" cy="1463040"/>
          </a:xfrm>
          <a:prstGeom prst="rect">
            <a:avLst/>
          </a:prstGeom>
          <a:noFill/>
          <a:ln/>
        </p:spPr>
        <p:txBody>
          <a:bodyPr wrap="square" rtlCol="0"/>
          <a:lstStyle>
            <a:lvl1pPr marL="0" indent="0">
              <a:buNone/>
              <a:defRPr lang="en-US" sz="1800" dirty="0">
                <a:solidFill>
                  <a:schemeClr val="accent5"/>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94560"/>
            <a:ext cx="10515600" cy="128016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548640" y="3657600"/>
            <a:ext cx="10515600" cy="1097280"/>
          </a:xfrm>
          <a:prstGeom prst="rect">
            <a:avLst/>
          </a:prstGeom>
          <a:noFill/>
          <a:ln/>
        </p:spPr>
        <p:txBody>
          <a:bodyPr wrap="square" rtlCol="0"/>
          <a:lstStyle>
            <a:lvl1pPr marL="0" indent="0">
              <a:buNone/>
              <a:defRPr lang="en-US" sz="2000" dirty="0">
                <a:solidFill>
                  <a:schemeClr val="accent5"/>
                </a:solidFill>
              </a:defRPr>
            </a:lvl1pPr>
          </a:lstStyle>
          <a:p>
            <a:pPr marL="0" indent="0">
              <a:buNone/>
            </a:pP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lstStyle>
            <a:lvl1pPr marL="0" indent="0" algn="l">
              <a:buNone/>
              <a:defRPr lang="en-US" sz="34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marL="0" indent="0">
              <a:buNone/>
            </a:pPr>
            <a:r>
              <a:rPr lang="en-US" sz="1000" dirty="0">
                <a:solidFill>
                  <a:schemeClr val="accent4"/>
                </a:solidFill>
              </a:rPr>
              <a:t>CS 582 · Group 2 · Predicting CRM Sales Opportunities</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9601200" cy="1737360"/>
          </a:xfrm>
          <a:prstGeom prst="rect">
            <a:avLst/>
          </a:prstGeom>
          <a:noFill/>
          <a:ln/>
        </p:spPr>
        <p:txBody>
          <a:bodyPr wrap="square" lIns="0" tIns="0" rIns="0" bIns="0" rtlCol="0" anchor="b"/>
          <a:lstStyle/>
          <a:p>
            <a:pPr marL="0" indent="0" algn="l">
              <a:buNone/>
            </a:pPr>
            <a:r>
              <a:rPr lang="en-US" sz="4200" b="1" dirty="0">
                <a:solidFill>
                  <a:schemeClr val="bg1"/>
                </a:solidFill>
                <a:latin typeface="Cambria" pitchFamily="34" charset="0"/>
                <a:ea typeface="Cambria" pitchFamily="34" charset="-122"/>
                <a:cs typeface="Cambria" pitchFamily="34" charset="-120"/>
              </a:rPr>
              <a:t>Predicting CRM Sales Opportunities Using Machine Learning</a:t>
            </a:r>
            <a:endParaRPr lang="en-US" sz="4200" dirty="0"/>
          </a:p>
        </p:txBody>
      </p:sp>
      <p:sp>
        <p:nvSpPr>
          <p:cNvPr id="3" name="Text 0"/>
          <p:cNvSpPr>
            <a:spLocks noGrp="1"/>
          </p:cNvSpPr>
          <p:nvPr>
            <p:ph type="body" idx="101" hasCustomPrompt="1"/>
          </p:nvPr>
        </p:nvSpPr>
        <p:spPr>
          <a:xfrm>
            <a:off x="548640" y="3794760"/>
            <a:ext cx="9601200" cy="1463040"/>
          </a:xfrm>
          <a:prstGeom prst="rect">
            <a:avLst/>
          </a:prstGeom>
          <a:noFill/>
          <a:ln/>
        </p:spPr>
        <p:txBody>
          <a:bodyPr wrap="square" lIns="0" tIns="0" rIns="0" bIns="0" rtlCol="0" anchor="t"/>
          <a:lstStyle/>
          <a:p>
            <a:pPr marL="0" indent="0">
              <a:buNone/>
            </a:pPr>
            <a:r>
              <a:rPr lang="en-US" sz="1800" dirty="0">
                <a:solidFill>
                  <a:schemeClr val="accent5"/>
                </a:solidFill>
              </a:rPr>
              <a:t>CS 582 Machine Learning · Group 2 · Final presentation</a:t>
            </a:r>
            <a:endParaRPr lang="en-US" sz="1800" dirty="0"/>
          </a:p>
          <a:p>
            <a:pPr marL="0" indent="0">
              <a:buNone/>
            </a:pPr>
            <a:r>
              <a:rPr lang="en-US" sz="1800" dirty="0">
                <a:solidFill>
                  <a:schemeClr val="bg1"/>
                </a:solidFill>
              </a:rPr>
              <a:t>Hong Thai Phan · Nguyen Khanh An Tran · Hoang Thien Bao Bui</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Goal: a win probability and its reasons</a:t>
            </a:r>
            <a:endParaRPr lang="en-US" sz="3400" dirty="0"/>
          </a:p>
        </p:txBody>
      </p:sp>
      <p:sp>
        <p:nvSpPr>
          <p:cNvPr id="3" name="goal-card-0"/>
          <p:cNvSpPr/>
          <p:nvPr/>
        </p:nvSpPr>
        <p:spPr>
          <a:xfrm>
            <a:off x="548640" y="1600200"/>
            <a:ext cx="3291840" cy="2377440"/>
          </a:xfrm>
          <a:prstGeom prst="roundRect">
            <a:avLst>
              <a:gd name="adj" fmla="val 3077"/>
            </a:avLst>
          </a:prstGeom>
          <a:solidFill>
            <a:schemeClr val="bg2"/>
          </a:solidFill>
          <a:ln/>
        </p:spPr>
        <p:txBody>
          <a:bodyPr/>
          <a:lstStyle/>
          <a:p>
            <a:endParaRPr/>
          </a:p>
        </p:txBody>
      </p:sp>
      <p:sp>
        <p:nvSpPr>
          <p:cNvPr id="4" name="icon-bg-table"/>
          <p:cNvSpPr/>
          <p:nvPr/>
        </p:nvSpPr>
        <p:spPr>
          <a:xfrm>
            <a:off x="868680" y="1920240"/>
            <a:ext cx="640080" cy="640080"/>
          </a:xfrm>
          <a:prstGeom prst="ellipse">
            <a:avLst/>
          </a:prstGeom>
          <a:solidFill>
            <a:schemeClr val="accent1"/>
          </a:solidFill>
          <a:ln/>
        </p:spPr>
        <p:txBody>
          <a:bodyPr/>
          <a:lstStyle/>
          <a:p>
            <a:endParaRPr/>
          </a:p>
        </p:txBody>
      </p:sp>
      <p:pic>
        <p:nvPicPr>
          <p:cNvPr id="5" name="icon-table" descr="preencoded.png"/>
          <p:cNvPicPr>
            <a:picLocks noChangeAspect="1"/>
          </p:cNvPicPr>
          <p:nvPr/>
        </p:nvPicPr>
        <p:blipFill>
          <a:blip r:embed="rId3"/>
          <a:stretch>
            <a:fillRect/>
          </a:stretch>
        </p:blipFill>
        <p:spPr>
          <a:xfrm>
            <a:off x="1028700" y="2080260"/>
            <a:ext cx="320040" cy="320040"/>
          </a:xfrm>
          <a:prstGeom prst="rect">
            <a:avLst/>
          </a:prstGeom>
        </p:spPr>
      </p:pic>
      <p:sp>
        <p:nvSpPr>
          <p:cNvPr id="6" name="Text 3"/>
          <p:cNvSpPr txBox="1"/>
          <p:nvPr/>
        </p:nvSpPr>
        <p:spPr>
          <a:xfrm>
            <a:off x="868680" y="2697480"/>
            <a:ext cx="2651760" cy="365760"/>
          </a:xfrm>
          <a:prstGeom prst="rect">
            <a:avLst/>
          </a:prstGeom>
          <a:noFill/>
          <a:ln/>
        </p:spPr>
        <p:txBody>
          <a:bodyPr wrap="square" lIns="0" tIns="0" rIns="0" bIns="0" rtlCol="0" anchor="t"/>
          <a:lstStyle/>
          <a:p>
            <a:pPr marL="0" indent="0">
              <a:buNone/>
            </a:pPr>
            <a:r>
              <a:rPr lang="en-US" sz="2000" b="1" dirty="0">
                <a:solidFill>
                  <a:schemeClr val="tx2"/>
                </a:solidFill>
              </a:rPr>
              <a:t>Input</a:t>
            </a:r>
            <a:endParaRPr lang="en-US" sz="2000" dirty="0"/>
          </a:p>
        </p:txBody>
      </p:sp>
      <p:sp>
        <p:nvSpPr>
          <p:cNvPr id="7" name="Text 4"/>
          <p:cNvSpPr txBox="1"/>
          <p:nvPr/>
        </p:nvSpPr>
        <p:spPr>
          <a:xfrm>
            <a:off x="868680" y="3108960"/>
            <a:ext cx="2651760" cy="777240"/>
          </a:xfrm>
          <a:prstGeom prst="rect">
            <a:avLst/>
          </a:prstGeom>
          <a:noFill/>
          <a:ln/>
        </p:spPr>
        <p:txBody>
          <a:bodyPr wrap="square" lIns="0" tIns="0" rIns="0" bIns="0" rtlCol="0" anchor="t"/>
          <a:lstStyle/>
          <a:p>
            <a:pPr marL="0" indent="0">
              <a:buNone/>
            </a:pPr>
            <a:r>
              <a:rPr lang="en-US" sz="1500" dirty="0">
                <a:solidFill>
                  <a:schemeClr val="tx1"/>
                </a:solidFill>
              </a:rPr>
              <a:t>Four CRM tables: sales pipeline, accounts, products, sales teams</a:t>
            </a:r>
            <a:endParaRPr lang="en-US" sz="1500" dirty="0"/>
          </a:p>
        </p:txBody>
      </p:sp>
      <p:sp>
        <p:nvSpPr>
          <p:cNvPr id="8" name="goal-arrow-0"/>
          <p:cNvSpPr/>
          <p:nvPr/>
        </p:nvSpPr>
        <p:spPr>
          <a:xfrm>
            <a:off x="3959352" y="2606040"/>
            <a:ext cx="365760" cy="365760"/>
          </a:xfrm>
          <a:prstGeom prst="rightArrow">
            <a:avLst/>
          </a:prstGeom>
          <a:solidFill>
            <a:schemeClr val="accent2"/>
          </a:solidFill>
          <a:ln/>
        </p:spPr>
        <p:txBody>
          <a:bodyPr/>
          <a:lstStyle/>
          <a:p>
            <a:endParaRPr/>
          </a:p>
        </p:txBody>
      </p:sp>
      <p:sp>
        <p:nvSpPr>
          <p:cNvPr id="9" name="goal-card-1"/>
          <p:cNvSpPr/>
          <p:nvPr/>
        </p:nvSpPr>
        <p:spPr>
          <a:xfrm>
            <a:off x="4434840" y="1600200"/>
            <a:ext cx="3291840" cy="2377440"/>
          </a:xfrm>
          <a:prstGeom prst="roundRect">
            <a:avLst>
              <a:gd name="adj" fmla="val 3077"/>
            </a:avLst>
          </a:prstGeom>
          <a:solidFill>
            <a:schemeClr val="bg2"/>
          </a:solidFill>
          <a:ln/>
        </p:spPr>
        <p:txBody>
          <a:bodyPr/>
          <a:lstStyle/>
          <a:p>
            <a:endParaRPr/>
          </a:p>
        </p:txBody>
      </p:sp>
      <p:sp>
        <p:nvSpPr>
          <p:cNvPr id="10" name="icon-bg-brain"/>
          <p:cNvSpPr/>
          <p:nvPr/>
        </p:nvSpPr>
        <p:spPr>
          <a:xfrm>
            <a:off x="4754880" y="1920240"/>
            <a:ext cx="640080" cy="640080"/>
          </a:xfrm>
          <a:prstGeom prst="ellipse">
            <a:avLst/>
          </a:prstGeom>
          <a:solidFill>
            <a:schemeClr val="accent1"/>
          </a:solidFill>
          <a:ln/>
        </p:spPr>
        <p:txBody>
          <a:bodyPr/>
          <a:lstStyle/>
          <a:p>
            <a:endParaRPr/>
          </a:p>
        </p:txBody>
      </p:sp>
      <p:pic>
        <p:nvPicPr>
          <p:cNvPr id="11" name="icon-brain" descr="preencoded.png"/>
          <p:cNvPicPr>
            <a:picLocks noChangeAspect="1"/>
          </p:cNvPicPr>
          <p:nvPr/>
        </p:nvPicPr>
        <p:blipFill>
          <a:blip r:embed="rId4"/>
          <a:stretch>
            <a:fillRect/>
          </a:stretch>
        </p:blipFill>
        <p:spPr>
          <a:xfrm>
            <a:off x="4914900" y="2080260"/>
            <a:ext cx="320040" cy="320040"/>
          </a:xfrm>
          <a:prstGeom prst="rect">
            <a:avLst/>
          </a:prstGeom>
        </p:spPr>
      </p:pic>
      <p:sp>
        <p:nvSpPr>
          <p:cNvPr id="12" name="Text 8"/>
          <p:cNvSpPr txBox="1"/>
          <p:nvPr/>
        </p:nvSpPr>
        <p:spPr>
          <a:xfrm>
            <a:off x="4754880" y="2697480"/>
            <a:ext cx="2651760" cy="365760"/>
          </a:xfrm>
          <a:prstGeom prst="rect">
            <a:avLst/>
          </a:prstGeom>
          <a:noFill/>
          <a:ln/>
        </p:spPr>
        <p:txBody>
          <a:bodyPr wrap="square" lIns="0" tIns="0" rIns="0" bIns="0" rtlCol="0" anchor="t"/>
          <a:lstStyle/>
          <a:p>
            <a:pPr marL="0" indent="0">
              <a:buNone/>
            </a:pPr>
            <a:r>
              <a:rPr lang="en-US" sz="2000" b="1" dirty="0">
                <a:solidFill>
                  <a:schemeClr val="tx2"/>
                </a:solidFill>
              </a:rPr>
              <a:t>Models</a:t>
            </a:r>
            <a:endParaRPr lang="en-US" sz="2000" dirty="0"/>
          </a:p>
        </p:txBody>
      </p:sp>
      <p:sp>
        <p:nvSpPr>
          <p:cNvPr id="13" name="Text 9"/>
          <p:cNvSpPr txBox="1"/>
          <p:nvPr/>
        </p:nvSpPr>
        <p:spPr>
          <a:xfrm>
            <a:off x="4754880" y="3108960"/>
            <a:ext cx="2651760" cy="777240"/>
          </a:xfrm>
          <a:prstGeom prst="rect">
            <a:avLst/>
          </a:prstGeom>
          <a:noFill/>
          <a:ln/>
        </p:spPr>
        <p:txBody>
          <a:bodyPr wrap="square" lIns="0" tIns="0" rIns="0" bIns="0" rtlCol="0" anchor="t"/>
          <a:lstStyle/>
          <a:p>
            <a:pPr marL="0" indent="0">
              <a:buNone/>
            </a:pPr>
            <a:r>
              <a:rPr lang="en-US" sz="1500" dirty="0">
                <a:solidFill>
                  <a:schemeClr val="tx1"/>
                </a:solidFill>
              </a:rPr>
              <a:t>Dummy control, Logistic Regression, Random Forest, MLP, TabNet</a:t>
            </a:r>
            <a:endParaRPr lang="en-US" sz="1500" dirty="0"/>
          </a:p>
        </p:txBody>
      </p:sp>
      <p:sp>
        <p:nvSpPr>
          <p:cNvPr id="14" name="goal-arrow-1"/>
          <p:cNvSpPr/>
          <p:nvPr/>
        </p:nvSpPr>
        <p:spPr>
          <a:xfrm>
            <a:off x="7845552" y="2606040"/>
            <a:ext cx="365760" cy="365760"/>
          </a:xfrm>
          <a:prstGeom prst="rightArrow">
            <a:avLst/>
          </a:prstGeom>
          <a:solidFill>
            <a:schemeClr val="accent2"/>
          </a:solidFill>
          <a:ln/>
        </p:spPr>
        <p:txBody>
          <a:bodyPr/>
          <a:lstStyle/>
          <a:p>
            <a:endParaRPr/>
          </a:p>
        </p:txBody>
      </p:sp>
      <p:sp>
        <p:nvSpPr>
          <p:cNvPr id="15" name="goal-card-2"/>
          <p:cNvSpPr/>
          <p:nvPr/>
        </p:nvSpPr>
        <p:spPr>
          <a:xfrm>
            <a:off x="8321040" y="1600200"/>
            <a:ext cx="3291840" cy="2377440"/>
          </a:xfrm>
          <a:prstGeom prst="roundRect">
            <a:avLst>
              <a:gd name="adj" fmla="val 3077"/>
            </a:avLst>
          </a:prstGeom>
          <a:solidFill>
            <a:schemeClr val="bg2"/>
          </a:solidFill>
          <a:ln/>
        </p:spPr>
        <p:txBody>
          <a:bodyPr/>
          <a:lstStyle/>
          <a:p>
            <a:endParaRPr/>
          </a:p>
        </p:txBody>
      </p:sp>
      <p:sp>
        <p:nvSpPr>
          <p:cNvPr id="16" name="icon-bg-chart"/>
          <p:cNvSpPr/>
          <p:nvPr/>
        </p:nvSpPr>
        <p:spPr>
          <a:xfrm>
            <a:off x="8641080" y="1920240"/>
            <a:ext cx="640080" cy="640080"/>
          </a:xfrm>
          <a:prstGeom prst="ellipse">
            <a:avLst/>
          </a:prstGeom>
          <a:solidFill>
            <a:schemeClr val="accent1"/>
          </a:solidFill>
          <a:ln/>
        </p:spPr>
        <p:txBody>
          <a:bodyPr/>
          <a:lstStyle/>
          <a:p>
            <a:endParaRPr/>
          </a:p>
        </p:txBody>
      </p:sp>
      <p:pic>
        <p:nvPicPr>
          <p:cNvPr id="17" name="icon-chart" descr="preencoded.png"/>
          <p:cNvPicPr>
            <a:picLocks noChangeAspect="1"/>
          </p:cNvPicPr>
          <p:nvPr/>
        </p:nvPicPr>
        <p:blipFill>
          <a:blip r:embed="rId5"/>
          <a:stretch>
            <a:fillRect/>
          </a:stretch>
        </p:blipFill>
        <p:spPr>
          <a:xfrm>
            <a:off x="8801100" y="2080260"/>
            <a:ext cx="320040" cy="320040"/>
          </a:xfrm>
          <a:prstGeom prst="rect">
            <a:avLst/>
          </a:prstGeom>
        </p:spPr>
      </p:pic>
      <p:sp>
        <p:nvSpPr>
          <p:cNvPr id="18" name="Text 13"/>
          <p:cNvSpPr txBox="1"/>
          <p:nvPr/>
        </p:nvSpPr>
        <p:spPr>
          <a:xfrm>
            <a:off x="8641080" y="2697480"/>
            <a:ext cx="2651760" cy="365760"/>
          </a:xfrm>
          <a:prstGeom prst="rect">
            <a:avLst/>
          </a:prstGeom>
          <a:noFill/>
          <a:ln/>
        </p:spPr>
        <p:txBody>
          <a:bodyPr wrap="square" lIns="0" tIns="0" rIns="0" bIns="0" rtlCol="0" anchor="t"/>
          <a:lstStyle/>
          <a:p>
            <a:pPr marL="0" indent="0">
              <a:buNone/>
            </a:pPr>
            <a:r>
              <a:rPr lang="en-US" sz="2000" b="1" dirty="0">
                <a:solidFill>
                  <a:schemeClr val="tx2"/>
                </a:solidFill>
              </a:rPr>
              <a:t>Output</a:t>
            </a:r>
            <a:endParaRPr lang="en-US" sz="2000" dirty="0"/>
          </a:p>
        </p:txBody>
      </p:sp>
      <p:sp>
        <p:nvSpPr>
          <p:cNvPr id="19" name="Text 14"/>
          <p:cNvSpPr txBox="1"/>
          <p:nvPr/>
        </p:nvSpPr>
        <p:spPr>
          <a:xfrm>
            <a:off x="8641080" y="3108960"/>
            <a:ext cx="2651760" cy="777240"/>
          </a:xfrm>
          <a:prstGeom prst="rect">
            <a:avLst/>
          </a:prstGeom>
          <a:noFill/>
          <a:ln/>
        </p:spPr>
        <p:txBody>
          <a:bodyPr wrap="square" lIns="0" tIns="0" rIns="0" bIns="0" rtlCol="0" anchor="t"/>
          <a:lstStyle/>
          <a:p>
            <a:pPr marL="0" indent="0">
              <a:buNone/>
            </a:pPr>
            <a:r>
              <a:rPr lang="en-US" sz="1500" dirty="0">
                <a:solidFill>
                  <a:schemeClr val="tx1"/>
                </a:solidFill>
              </a:rPr>
              <a:t>P(Won) for each open deal plus the factors that move its score</a:t>
            </a:r>
            <a:endParaRPr lang="en-US" sz="1500" dirty="0"/>
          </a:p>
        </p:txBody>
      </p:sp>
      <p:sp>
        <p:nvSpPr>
          <p:cNvPr id="20" name="scenario-frame"/>
          <p:cNvSpPr/>
          <p:nvPr/>
        </p:nvSpPr>
        <p:spPr>
          <a:xfrm>
            <a:off x="548640" y="4343400"/>
            <a:ext cx="11094415" cy="1600200"/>
          </a:xfrm>
          <a:prstGeom prst="roundRect">
            <a:avLst>
              <a:gd name="adj" fmla="val 4571"/>
            </a:avLst>
          </a:prstGeom>
          <a:solidFill>
            <a:schemeClr val="bg1"/>
          </a:solidFill>
          <a:ln/>
        </p:spPr>
        <p:txBody>
          <a:bodyPr/>
          <a:lstStyle/>
          <a:p>
            <a:endParaRPr/>
          </a:p>
        </p:txBody>
      </p:sp>
      <p:sp>
        <p:nvSpPr>
          <p:cNvPr id="21" name="Text 16"/>
          <p:cNvSpPr txBox="1"/>
          <p:nvPr/>
        </p:nvSpPr>
        <p:spPr>
          <a:xfrm>
            <a:off x="548640" y="4343400"/>
            <a:ext cx="11094415" cy="365760"/>
          </a:xfrm>
          <a:prstGeom prst="rect">
            <a:avLst/>
          </a:prstGeom>
          <a:noFill/>
          <a:ln/>
        </p:spPr>
        <p:txBody>
          <a:bodyPr wrap="square" lIns="0" tIns="0" rIns="0" bIns="0" rtlCol="0" anchor="t"/>
          <a:lstStyle/>
          <a:p>
            <a:pPr marL="0" indent="0">
              <a:buNone/>
            </a:pPr>
            <a:r>
              <a:rPr lang="en-US" sz="1800" b="1" dirty="0">
                <a:solidFill>
                  <a:schemeClr val="tx2"/>
                </a:solidFill>
              </a:rPr>
              <a:t>Two scenarios, same pipeline</a:t>
            </a:r>
            <a:endParaRPr lang="en-US" sz="1800" dirty="0"/>
          </a:p>
        </p:txBody>
      </p:sp>
      <p:sp>
        <p:nvSpPr>
          <p:cNvPr id="22" name="Text 17"/>
          <p:cNvSpPr txBox="1"/>
          <p:nvPr/>
        </p:nvSpPr>
        <p:spPr>
          <a:xfrm>
            <a:off x="548640" y="4800600"/>
            <a:ext cx="11094415" cy="1005840"/>
          </a:xfrm>
          <a:prstGeom prst="rect">
            <a:avLst/>
          </a:prstGeom>
          <a:noFill/>
          <a:ln/>
        </p:spPr>
        <p:txBody>
          <a:bodyPr wrap="square" lIns="0" tIns="0" rIns="0" bIns="0" rtlCol="0" anchor="t"/>
          <a:lstStyle/>
          <a:p>
            <a:pPr marL="0" indent="0">
              <a:spcAft>
                <a:spcPts val="600"/>
              </a:spcAft>
              <a:buNone/>
            </a:pPr>
            <a:r>
              <a:rPr lang="en-US" sz="1600" b="1" dirty="0">
                <a:solidFill>
                  <a:schemeClr val="accent1"/>
                </a:solidFill>
              </a:rPr>
              <a:t>A · Original Maven CRM data: </a:t>
            </a:r>
            <a:r>
              <a:rPr lang="en-US" sz="1600" dirty="0">
                <a:solidFill>
                  <a:schemeClr val="tx1"/>
                </a:solidFill>
              </a:rPr>
              <a:t>the project's reported results.</a:t>
            </a:r>
            <a:endParaRPr lang="en-US" sz="1600" dirty="0"/>
          </a:p>
          <a:p>
            <a:pPr marL="0" indent="0">
              <a:spcAft>
                <a:spcPts val="600"/>
              </a:spcAft>
              <a:buNone/>
            </a:pPr>
            <a:r>
              <a:rPr lang="en-US" sz="1600" b="1" dirty="0">
                <a:solidFill>
                  <a:schemeClr val="accent2"/>
                </a:solidFill>
              </a:rPr>
              <a:t>B · Simulated data with a known formula: </a:t>
            </a:r>
            <a:r>
              <a:rPr lang="en-US" sz="1600" dirty="0">
                <a:solidFill>
                  <a:schemeClr val="tx1"/>
                </a:solidFill>
              </a:rPr>
              <a:t>a check that the pipeline finds signal when signal exists.</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Data: a fictitious B2B hardware seller</a:t>
            </a:r>
            <a:endParaRPr lang="en-US" sz="3400" dirty="0"/>
          </a:p>
        </p:txBody>
      </p:sp>
      <p:sp>
        <p:nvSpPr>
          <p:cNvPr id="3" name="Text 1"/>
          <p:cNvSpPr txBox="1"/>
          <p:nvPr/>
        </p:nvSpPr>
        <p:spPr>
          <a:xfrm>
            <a:off x="548640" y="1463040"/>
            <a:ext cx="2560320" cy="731520"/>
          </a:xfrm>
          <a:prstGeom prst="rect">
            <a:avLst/>
          </a:prstGeom>
          <a:noFill/>
          <a:ln/>
        </p:spPr>
        <p:txBody>
          <a:bodyPr wrap="square" lIns="0" tIns="0" rIns="0" bIns="0" rtlCol="0" anchor="b"/>
          <a:lstStyle/>
          <a:p>
            <a:pPr marL="0" indent="0">
              <a:buNone/>
            </a:pPr>
            <a:r>
              <a:rPr lang="en-US" sz="4400" b="1" dirty="0">
                <a:solidFill>
                  <a:schemeClr val="accent1"/>
                </a:solidFill>
                <a:latin typeface="Cambria" pitchFamily="34" charset="0"/>
                <a:ea typeface="Cambria" pitchFamily="34" charset="-122"/>
                <a:cs typeface="Cambria" pitchFamily="34" charset="-120"/>
              </a:rPr>
              <a:t>8,800</a:t>
            </a:r>
            <a:endParaRPr lang="en-US" sz="4400" dirty="0"/>
          </a:p>
        </p:txBody>
      </p:sp>
      <p:sp>
        <p:nvSpPr>
          <p:cNvPr id="4" name="Text 2"/>
          <p:cNvSpPr txBox="1"/>
          <p:nvPr/>
        </p:nvSpPr>
        <p:spPr>
          <a:xfrm>
            <a:off x="548640" y="2240280"/>
            <a:ext cx="2560320" cy="548640"/>
          </a:xfrm>
          <a:prstGeom prst="rect">
            <a:avLst/>
          </a:prstGeom>
          <a:noFill/>
          <a:ln/>
        </p:spPr>
        <p:txBody>
          <a:bodyPr wrap="square" lIns="0" tIns="0" rIns="0" bIns="0" rtlCol="0" anchor="t"/>
          <a:lstStyle/>
          <a:p>
            <a:pPr marL="0" indent="0">
              <a:buNone/>
            </a:pPr>
            <a:r>
              <a:rPr lang="en-US" sz="1300" dirty="0">
                <a:solidFill>
                  <a:schemeClr val="accent4"/>
                </a:solidFill>
              </a:rPr>
              <a:t>sales opportunities</a:t>
            </a:r>
            <a:endParaRPr lang="en-US" sz="1300" dirty="0"/>
          </a:p>
        </p:txBody>
      </p:sp>
      <p:sp>
        <p:nvSpPr>
          <p:cNvPr id="5" name="Text 3"/>
          <p:cNvSpPr txBox="1"/>
          <p:nvPr/>
        </p:nvSpPr>
        <p:spPr>
          <a:xfrm>
            <a:off x="3291840" y="1463040"/>
            <a:ext cx="2560320" cy="731520"/>
          </a:xfrm>
          <a:prstGeom prst="rect">
            <a:avLst/>
          </a:prstGeom>
          <a:noFill/>
          <a:ln/>
        </p:spPr>
        <p:txBody>
          <a:bodyPr wrap="square" lIns="0" tIns="0" rIns="0" bIns="0" rtlCol="0" anchor="b"/>
          <a:lstStyle/>
          <a:p>
            <a:pPr marL="0" indent="0">
              <a:buNone/>
            </a:pPr>
            <a:r>
              <a:rPr lang="en-US" sz="4400" b="1" dirty="0">
                <a:solidFill>
                  <a:schemeClr val="accent1"/>
                </a:solidFill>
                <a:latin typeface="Cambria" pitchFamily="34" charset="0"/>
                <a:ea typeface="Cambria" pitchFamily="34" charset="-122"/>
                <a:cs typeface="Cambria" pitchFamily="34" charset="-120"/>
              </a:rPr>
              <a:t>85</a:t>
            </a:r>
            <a:endParaRPr lang="en-US" sz="4400" dirty="0"/>
          </a:p>
        </p:txBody>
      </p:sp>
      <p:sp>
        <p:nvSpPr>
          <p:cNvPr id="6" name="Text 4"/>
          <p:cNvSpPr txBox="1"/>
          <p:nvPr/>
        </p:nvSpPr>
        <p:spPr>
          <a:xfrm>
            <a:off x="3291840" y="2240280"/>
            <a:ext cx="2560320" cy="548640"/>
          </a:xfrm>
          <a:prstGeom prst="rect">
            <a:avLst/>
          </a:prstGeom>
          <a:noFill/>
          <a:ln/>
        </p:spPr>
        <p:txBody>
          <a:bodyPr wrap="square" lIns="0" tIns="0" rIns="0" bIns="0" rtlCol="0" anchor="t"/>
          <a:lstStyle/>
          <a:p>
            <a:pPr marL="0" indent="0">
              <a:buNone/>
            </a:pPr>
            <a:r>
              <a:rPr lang="en-US" sz="1300" dirty="0">
                <a:solidFill>
                  <a:schemeClr val="accent4"/>
                </a:solidFill>
              </a:rPr>
              <a:t>customer accounts</a:t>
            </a:r>
            <a:endParaRPr lang="en-US" sz="1300" dirty="0"/>
          </a:p>
        </p:txBody>
      </p:sp>
      <p:sp>
        <p:nvSpPr>
          <p:cNvPr id="7" name="Text 5"/>
          <p:cNvSpPr txBox="1"/>
          <p:nvPr/>
        </p:nvSpPr>
        <p:spPr>
          <a:xfrm>
            <a:off x="548640" y="2926080"/>
            <a:ext cx="2560320" cy="731520"/>
          </a:xfrm>
          <a:prstGeom prst="rect">
            <a:avLst/>
          </a:prstGeom>
          <a:noFill/>
          <a:ln/>
        </p:spPr>
        <p:txBody>
          <a:bodyPr wrap="square" lIns="0" tIns="0" rIns="0" bIns="0" rtlCol="0" anchor="b"/>
          <a:lstStyle/>
          <a:p>
            <a:pPr marL="0" indent="0">
              <a:buNone/>
            </a:pPr>
            <a:r>
              <a:rPr lang="en-US" sz="4400" b="1" dirty="0">
                <a:solidFill>
                  <a:schemeClr val="accent1"/>
                </a:solidFill>
                <a:latin typeface="Cambria" pitchFamily="34" charset="0"/>
                <a:ea typeface="Cambria" pitchFamily="34" charset="-122"/>
                <a:cs typeface="Cambria" pitchFamily="34" charset="-120"/>
              </a:rPr>
              <a:t>7</a:t>
            </a:r>
            <a:endParaRPr lang="en-US" sz="4400" dirty="0"/>
          </a:p>
        </p:txBody>
      </p:sp>
      <p:sp>
        <p:nvSpPr>
          <p:cNvPr id="8" name="Text 6"/>
          <p:cNvSpPr txBox="1"/>
          <p:nvPr/>
        </p:nvSpPr>
        <p:spPr>
          <a:xfrm>
            <a:off x="548640" y="3703320"/>
            <a:ext cx="2560320" cy="548640"/>
          </a:xfrm>
          <a:prstGeom prst="rect">
            <a:avLst/>
          </a:prstGeom>
          <a:noFill/>
          <a:ln/>
        </p:spPr>
        <p:txBody>
          <a:bodyPr wrap="square" lIns="0" tIns="0" rIns="0" bIns="0" rtlCol="0" anchor="t"/>
          <a:lstStyle/>
          <a:p>
            <a:pPr marL="0" indent="0">
              <a:buNone/>
            </a:pPr>
            <a:r>
              <a:rPr lang="en-US" sz="1300" dirty="0">
                <a:solidFill>
                  <a:schemeClr val="accent4"/>
                </a:solidFill>
              </a:rPr>
              <a:t>products</a:t>
            </a:r>
            <a:endParaRPr lang="en-US" sz="1300" dirty="0"/>
          </a:p>
        </p:txBody>
      </p:sp>
      <p:sp>
        <p:nvSpPr>
          <p:cNvPr id="9" name="Text 7"/>
          <p:cNvSpPr txBox="1"/>
          <p:nvPr/>
        </p:nvSpPr>
        <p:spPr>
          <a:xfrm>
            <a:off x="3291840" y="2926080"/>
            <a:ext cx="2560320" cy="731520"/>
          </a:xfrm>
          <a:prstGeom prst="rect">
            <a:avLst/>
          </a:prstGeom>
          <a:noFill/>
          <a:ln/>
        </p:spPr>
        <p:txBody>
          <a:bodyPr wrap="square" lIns="0" tIns="0" rIns="0" bIns="0" rtlCol="0" anchor="b"/>
          <a:lstStyle/>
          <a:p>
            <a:pPr marL="0" indent="0">
              <a:buNone/>
            </a:pPr>
            <a:r>
              <a:rPr lang="en-US" sz="4400" b="1" dirty="0">
                <a:solidFill>
                  <a:schemeClr val="accent1"/>
                </a:solidFill>
                <a:latin typeface="Cambria" pitchFamily="34" charset="0"/>
                <a:ea typeface="Cambria" pitchFamily="34" charset="-122"/>
                <a:cs typeface="Cambria" pitchFamily="34" charset="-120"/>
              </a:rPr>
              <a:t>35</a:t>
            </a:r>
            <a:endParaRPr lang="en-US" sz="4400" dirty="0"/>
          </a:p>
        </p:txBody>
      </p:sp>
      <p:sp>
        <p:nvSpPr>
          <p:cNvPr id="10" name="Text 8"/>
          <p:cNvSpPr txBox="1"/>
          <p:nvPr/>
        </p:nvSpPr>
        <p:spPr>
          <a:xfrm>
            <a:off x="3291840" y="3703320"/>
            <a:ext cx="2560320" cy="548640"/>
          </a:xfrm>
          <a:prstGeom prst="rect">
            <a:avLst/>
          </a:prstGeom>
          <a:noFill/>
          <a:ln/>
        </p:spPr>
        <p:txBody>
          <a:bodyPr wrap="square" lIns="0" tIns="0" rIns="0" bIns="0" rtlCol="0" anchor="t"/>
          <a:lstStyle/>
          <a:p>
            <a:pPr marL="0" indent="0">
              <a:buNone/>
            </a:pPr>
            <a:r>
              <a:rPr lang="en-US" sz="1300" dirty="0">
                <a:solidFill>
                  <a:schemeClr val="accent4"/>
                </a:solidFill>
              </a:rPr>
              <a:t>sales agents</a:t>
            </a:r>
            <a:endParaRPr lang="en-US" sz="1300" dirty="0"/>
          </a:p>
        </p:txBody>
      </p:sp>
      <p:sp>
        <p:nvSpPr>
          <p:cNvPr id="11" name="Text 9"/>
          <p:cNvSpPr txBox="1"/>
          <p:nvPr/>
        </p:nvSpPr>
        <p:spPr>
          <a:xfrm>
            <a:off x="548640" y="4526280"/>
            <a:ext cx="5212080" cy="731520"/>
          </a:xfrm>
          <a:prstGeom prst="rect">
            <a:avLst/>
          </a:prstGeom>
          <a:noFill/>
          <a:ln/>
        </p:spPr>
        <p:txBody>
          <a:bodyPr wrap="square" lIns="0" tIns="0" rIns="0" bIns="0" rtlCol="0" anchor="t"/>
          <a:lstStyle/>
          <a:p>
            <a:pPr marL="0" indent="0">
              <a:buNone/>
            </a:pPr>
            <a:r>
              <a:rPr lang="en-US" sz="1600" dirty="0">
                <a:solidFill>
                  <a:schemeClr val="tx1"/>
                </a:solidFill>
              </a:rPr>
              <a:t>Train only on 6,711 closed deals (63% Won). Open deals are scored, never labelled Lost.</a:t>
            </a:r>
            <a:endParaRPr lang="en-US" sz="1600" dirty="0"/>
          </a:p>
        </p:txBody>
      </p:sp>
      <p:sp>
        <p:nvSpPr>
          <p:cNvPr id="12" name="Text 10"/>
          <p:cNvSpPr txBox="1"/>
          <p:nvPr/>
        </p:nvSpPr>
        <p:spPr>
          <a:xfrm>
            <a:off x="548640" y="5669280"/>
            <a:ext cx="5303520" cy="457200"/>
          </a:xfrm>
          <a:prstGeom prst="rect">
            <a:avLst/>
          </a:prstGeom>
          <a:noFill/>
          <a:ln/>
        </p:spPr>
        <p:txBody>
          <a:bodyPr wrap="square" lIns="0" tIns="0" rIns="0" bIns="0" rtlCol="0" anchor="t"/>
          <a:lstStyle/>
          <a:p>
            <a:pPr marL="0" indent="0">
              <a:buNone/>
            </a:pPr>
            <a:r>
              <a:rPr lang="en-US" sz="1100" dirty="0">
                <a:solidFill>
                  <a:schemeClr val="accent4"/>
                </a:solidFill>
              </a:rPr>
              <a:t>Source: Maven Analytics CRM Sales Opportunities (public practice dataset)</a:t>
            </a:r>
            <a:endParaRPr lang="en-US" sz="1100" dirty="0"/>
          </a:p>
        </p:txBody>
      </p:sp>
      <p:graphicFrame>
        <p:nvGraphicFramePr>
          <p:cNvPr id="13" name="stage-chart"/>
          <p:cNvGraphicFramePr/>
          <p:nvPr/>
        </p:nvGraphicFramePr>
        <p:xfrm>
          <a:off x="6309360" y="1325880"/>
          <a:ext cx="530352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Time-based split: no peeking at the future</a:t>
            </a:r>
            <a:endParaRPr lang="en-US" sz="3400" dirty="0"/>
          </a:p>
        </p:txBody>
      </p:sp>
      <p:sp>
        <p:nvSpPr>
          <p:cNvPr id="3" name="split-Train"/>
          <p:cNvSpPr/>
          <p:nvPr/>
        </p:nvSpPr>
        <p:spPr>
          <a:xfrm>
            <a:off x="548640" y="1600200"/>
            <a:ext cx="6353526" cy="1005840"/>
          </a:xfrm>
          <a:prstGeom prst="roundRect">
            <a:avLst>
              <a:gd name="adj" fmla="val 7273"/>
            </a:avLst>
          </a:prstGeom>
          <a:solidFill>
            <a:schemeClr val="accent1"/>
          </a:solidFill>
          <a:ln/>
        </p:spPr>
        <p:txBody>
          <a:bodyPr/>
          <a:lstStyle/>
          <a:p>
            <a:endParaRPr/>
          </a:p>
        </p:txBody>
      </p:sp>
      <p:sp>
        <p:nvSpPr>
          <p:cNvPr id="4" name="Text 2"/>
          <p:cNvSpPr txBox="1"/>
          <p:nvPr/>
        </p:nvSpPr>
        <p:spPr>
          <a:xfrm>
            <a:off x="731520" y="1691640"/>
            <a:ext cx="6079206" cy="822960"/>
          </a:xfrm>
          <a:prstGeom prst="rect">
            <a:avLst/>
          </a:prstGeom>
          <a:noFill/>
          <a:ln/>
        </p:spPr>
        <p:txBody>
          <a:bodyPr wrap="square" lIns="0" tIns="0" rIns="0" bIns="0" rtlCol="0" anchor="ctr"/>
          <a:lstStyle/>
          <a:p>
            <a:pPr marL="0" indent="0">
              <a:buNone/>
            </a:pPr>
            <a:r>
              <a:rPr lang="en-US" sz="1800" b="1" dirty="0">
                <a:solidFill>
                  <a:schemeClr val="bg1"/>
                </a:solidFill>
              </a:rPr>
              <a:t>Train</a:t>
            </a:r>
            <a:endParaRPr lang="en-US" sz="1800" dirty="0"/>
          </a:p>
          <a:p>
            <a:pPr marL="0" indent="0">
              <a:buNone/>
            </a:pPr>
            <a:r>
              <a:rPr lang="en-US" sz="1800" dirty="0">
                <a:solidFill>
                  <a:schemeClr val="bg1"/>
                </a:solidFill>
              </a:rPr>
              <a:t>2,975 deals</a:t>
            </a:r>
            <a:endParaRPr lang="en-US" sz="1800" dirty="0"/>
          </a:p>
        </p:txBody>
      </p:sp>
      <p:sp>
        <p:nvSpPr>
          <p:cNvPr id="5" name="Text 3"/>
          <p:cNvSpPr txBox="1"/>
          <p:nvPr/>
        </p:nvSpPr>
        <p:spPr>
          <a:xfrm>
            <a:off x="548640" y="2697480"/>
            <a:ext cx="6353526" cy="320040"/>
          </a:xfrm>
          <a:prstGeom prst="rect">
            <a:avLst/>
          </a:prstGeom>
          <a:noFill/>
          <a:ln/>
        </p:spPr>
        <p:txBody>
          <a:bodyPr wrap="square" lIns="0" tIns="0" rIns="0" bIns="0" rtlCol="0" anchor="t"/>
          <a:lstStyle/>
          <a:p>
            <a:pPr marL="0" indent="0">
              <a:buNone/>
            </a:pPr>
            <a:r>
              <a:rPr lang="en-US" sz="1300" dirty="0">
                <a:solidFill>
                  <a:schemeClr val="accent4"/>
                </a:solidFill>
              </a:rPr>
              <a:t>Engaged Oct 2016 – Jul 2017</a:t>
            </a:r>
            <a:endParaRPr lang="en-US" sz="1300" dirty="0"/>
          </a:p>
        </p:txBody>
      </p:sp>
      <p:sp>
        <p:nvSpPr>
          <p:cNvPr id="6" name="split-Validation"/>
          <p:cNvSpPr/>
          <p:nvPr/>
        </p:nvSpPr>
        <p:spPr>
          <a:xfrm>
            <a:off x="6993606" y="1600200"/>
            <a:ext cx="1426693" cy="1005840"/>
          </a:xfrm>
          <a:prstGeom prst="roundRect">
            <a:avLst>
              <a:gd name="adj" fmla="val 7273"/>
            </a:avLst>
          </a:prstGeom>
          <a:solidFill>
            <a:schemeClr val="accent2"/>
          </a:solidFill>
          <a:ln/>
        </p:spPr>
        <p:txBody>
          <a:bodyPr/>
          <a:lstStyle/>
          <a:p>
            <a:endParaRPr/>
          </a:p>
        </p:txBody>
      </p:sp>
      <p:sp>
        <p:nvSpPr>
          <p:cNvPr id="7" name="Text 5"/>
          <p:cNvSpPr txBox="1"/>
          <p:nvPr/>
        </p:nvSpPr>
        <p:spPr>
          <a:xfrm>
            <a:off x="7176486" y="1691640"/>
            <a:ext cx="1152373" cy="822960"/>
          </a:xfrm>
          <a:prstGeom prst="rect">
            <a:avLst/>
          </a:prstGeom>
          <a:noFill/>
          <a:ln/>
        </p:spPr>
        <p:txBody>
          <a:bodyPr wrap="square" lIns="0" tIns="0" rIns="0" bIns="0" rtlCol="0" anchor="ctr"/>
          <a:lstStyle/>
          <a:p>
            <a:pPr marL="0" indent="0">
              <a:buNone/>
            </a:pPr>
            <a:r>
              <a:rPr lang="en-US" sz="1800" b="1" dirty="0">
                <a:solidFill>
                  <a:schemeClr val="bg1"/>
                </a:solidFill>
              </a:rPr>
              <a:t>Validation</a:t>
            </a:r>
            <a:endParaRPr lang="en-US" sz="1800" dirty="0"/>
          </a:p>
          <a:p>
            <a:pPr marL="0" indent="0">
              <a:buNone/>
            </a:pPr>
            <a:r>
              <a:rPr lang="en-US" sz="1800" dirty="0">
                <a:solidFill>
                  <a:schemeClr val="bg1"/>
                </a:solidFill>
              </a:rPr>
              <a:t>583 deals</a:t>
            </a:r>
            <a:endParaRPr lang="en-US" sz="1800" dirty="0"/>
          </a:p>
        </p:txBody>
      </p:sp>
      <p:sp>
        <p:nvSpPr>
          <p:cNvPr id="8" name="Text 6"/>
          <p:cNvSpPr txBox="1"/>
          <p:nvPr/>
        </p:nvSpPr>
        <p:spPr>
          <a:xfrm>
            <a:off x="6993606" y="2697480"/>
            <a:ext cx="1426693" cy="320040"/>
          </a:xfrm>
          <a:prstGeom prst="rect">
            <a:avLst/>
          </a:prstGeom>
          <a:noFill/>
          <a:ln/>
        </p:spPr>
        <p:txBody>
          <a:bodyPr wrap="square" lIns="0" tIns="0" rIns="0" bIns="0" rtlCol="0" anchor="t"/>
          <a:lstStyle/>
          <a:p>
            <a:pPr marL="0" indent="0">
              <a:buNone/>
            </a:pPr>
            <a:r>
              <a:rPr lang="en-US" sz="1300" dirty="0">
                <a:solidFill>
                  <a:schemeClr val="accent4"/>
                </a:solidFill>
              </a:rPr>
              <a:t>Jul – Sep 2017</a:t>
            </a:r>
            <a:endParaRPr lang="en-US" sz="1300" dirty="0"/>
          </a:p>
        </p:txBody>
      </p:sp>
      <p:sp>
        <p:nvSpPr>
          <p:cNvPr id="9" name="split-Test"/>
          <p:cNvSpPr/>
          <p:nvPr/>
        </p:nvSpPr>
        <p:spPr>
          <a:xfrm>
            <a:off x="8511739" y="1600200"/>
            <a:ext cx="2856997" cy="1005840"/>
          </a:xfrm>
          <a:prstGeom prst="roundRect">
            <a:avLst>
              <a:gd name="adj" fmla="val 7273"/>
            </a:avLst>
          </a:prstGeom>
          <a:solidFill>
            <a:schemeClr val="tx2"/>
          </a:solidFill>
          <a:ln/>
        </p:spPr>
        <p:txBody>
          <a:bodyPr/>
          <a:lstStyle/>
          <a:p>
            <a:endParaRPr/>
          </a:p>
        </p:txBody>
      </p:sp>
      <p:sp>
        <p:nvSpPr>
          <p:cNvPr id="10" name="Text 8"/>
          <p:cNvSpPr txBox="1"/>
          <p:nvPr/>
        </p:nvSpPr>
        <p:spPr>
          <a:xfrm>
            <a:off x="8694619" y="1691640"/>
            <a:ext cx="2582677" cy="822960"/>
          </a:xfrm>
          <a:prstGeom prst="rect">
            <a:avLst/>
          </a:prstGeom>
          <a:noFill/>
          <a:ln/>
        </p:spPr>
        <p:txBody>
          <a:bodyPr wrap="square" lIns="0" tIns="0" rIns="0" bIns="0" rtlCol="0" anchor="ctr"/>
          <a:lstStyle/>
          <a:p>
            <a:pPr marL="0" indent="0">
              <a:buNone/>
            </a:pPr>
            <a:r>
              <a:rPr lang="en-US" sz="1800" b="1" dirty="0">
                <a:solidFill>
                  <a:schemeClr val="bg1"/>
                </a:solidFill>
              </a:rPr>
              <a:t>Test</a:t>
            </a:r>
            <a:endParaRPr lang="en-US" sz="1800" dirty="0"/>
          </a:p>
          <a:p>
            <a:pPr marL="0" indent="0">
              <a:buNone/>
            </a:pPr>
            <a:r>
              <a:rPr lang="en-US" sz="1800" dirty="0">
                <a:solidFill>
                  <a:schemeClr val="bg1"/>
                </a:solidFill>
              </a:rPr>
              <a:t>1,361 deals</a:t>
            </a:r>
            <a:endParaRPr lang="en-US" sz="1800" dirty="0"/>
          </a:p>
        </p:txBody>
      </p:sp>
      <p:sp>
        <p:nvSpPr>
          <p:cNvPr id="11" name="Text 9"/>
          <p:cNvSpPr txBox="1"/>
          <p:nvPr/>
        </p:nvSpPr>
        <p:spPr>
          <a:xfrm>
            <a:off x="8511739" y="2697480"/>
            <a:ext cx="2856997" cy="320040"/>
          </a:xfrm>
          <a:prstGeom prst="rect">
            <a:avLst/>
          </a:prstGeom>
          <a:noFill/>
          <a:ln/>
        </p:spPr>
        <p:txBody>
          <a:bodyPr wrap="square" lIns="0" tIns="0" rIns="0" bIns="0" rtlCol="0" anchor="t"/>
          <a:lstStyle/>
          <a:p>
            <a:pPr marL="0" indent="0">
              <a:buNone/>
            </a:pPr>
            <a:r>
              <a:rPr lang="en-US" sz="1300" dirty="0">
                <a:solidFill>
                  <a:schemeClr val="accent4"/>
                </a:solidFill>
              </a:rPr>
              <a:t>Engaged Sep – Dec 2017</a:t>
            </a:r>
            <a:endParaRPr lang="en-US" sz="1300" dirty="0"/>
          </a:p>
        </p:txBody>
      </p:sp>
      <p:sp>
        <p:nvSpPr>
          <p:cNvPr id="12" name="time-axis"/>
          <p:cNvSpPr/>
          <p:nvPr/>
        </p:nvSpPr>
        <p:spPr>
          <a:xfrm>
            <a:off x="548640" y="3154680"/>
            <a:ext cx="10911535" cy="0"/>
          </a:xfrm>
          <a:prstGeom prst="line">
            <a:avLst/>
          </a:prstGeom>
          <a:noFill/>
          <a:ln w="15875">
            <a:solidFill>
              <a:schemeClr val="accent4"/>
            </a:solidFill>
            <a:prstDash val="solid"/>
            <a:tailEnd type="triangle"/>
          </a:ln>
        </p:spPr>
        <p:txBody>
          <a:bodyPr/>
          <a:lstStyle/>
          <a:p>
            <a:endParaRPr/>
          </a:p>
        </p:txBody>
      </p:sp>
      <p:sp>
        <p:nvSpPr>
          <p:cNvPr id="13" name="Text 11"/>
          <p:cNvSpPr txBox="1"/>
          <p:nvPr/>
        </p:nvSpPr>
        <p:spPr>
          <a:xfrm>
            <a:off x="9631375" y="3246120"/>
            <a:ext cx="2011680" cy="274320"/>
          </a:xfrm>
          <a:prstGeom prst="rect">
            <a:avLst/>
          </a:prstGeom>
          <a:noFill/>
          <a:ln/>
        </p:spPr>
        <p:txBody>
          <a:bodyPr wrap="square" lIns="0" tIns="0" rIns="0" bIns="0" rtlCol="0" anchor="t"/>
          <a:lstStyle/>
          <a:p>
            <a:pPr marL="0" indent="0" algn="r">
              <a:buNone/>
            </a:pPr>
            <a:r>
              <a:rPr lang="en-US" sz="1100" dirty="0">
                <a:solidFill>
                  <a:schemeClr val="accent4"/>
                </a:solidFill>
              </a:rPr>
              <a:t>time (engage date)</a:t>
            </a:r>
            <a:endParaRPr lang="en-US" sz="1100" dirty="0"/>
          </a:p>
        </p:txBody>
      </p:sp>
      <p:sp>
        <p:nvSpPr>
          <p:cNvPr id="14" name="Text 12"/>
          <p:cNvSpPr txBox="1"/>
          <p:nvPr/>
        </p:nvSpPr>
        <p:spPr>
          <a:xfrm>
            <a:off x="548640" y="3703320"/>
            <a:ext cx="3291840" cy="731520"/>
          </a:xfrm>
          <a:prstGeom prst="rect">
            <a:avLst/>
          </a:prstGeom>
          <a:noFill/>
          <a:ln/>
        </p:spPr>
        <p:txBody>
          <a:bodyPr wrap="square" lIns="0" tIns="0" rIns="0" bIns="0" rtlCol="0" anchor="b"/>
          <a:lstStyle/>
          <a:p>
            <a:pPr marL="0" indent="0">
              <a:buNone/>
            </a:pPr>
            <a:r>
              <a:rPr lang="en-US" sz="4400" b="1" dirty="0">
                <a:solidFill>
                  <a:schemeClr val="accent3"/>
                </a:solidFill>
                <a:latin typeface="Cambria" pitchFamily="34" charset="0"/>
                <a:ea typeface="Cambria" pitchFamily="34" charset="-122"/>
                <a:cs typeface="Cambria" pitchFamily="34" charset="-120"/>
              </a:rPr>
              <a:t>1,792</a:t>
            </a:r>
            <a:endParaRPr lang="en-US" sz="4400" dirty="0"/>
          </a:p>
        </p:txBody>
      </p:sp>
      <p:sp>
        <p:nvSpPr>
          <p:cNvPr id="15" name="Text 13"/>
          <p:cNvSpPr txBox="1"/>
          <p:nvPr/>
        </p:nvSpPr>
        <p:spPr>
          <a:xfrm>
            <a:off x="548640" y="4480560"/>
            <a:ext cx="3291840" cy="548640"/>
          </a:xfrm>
          <a:prstGeom prst="rect">
            <a:avLst/>
          </a:prstGeom>
          <a:noFill/>
          <a:ln/>
        </p:spPr>
        <p:txBody>
          <a:bodyPr wrap="square" lIns="0" tIns="0" rIns="0" bIns="0" rtlCol="0" anchor="t"/>
          <a:lstStyle/>
          <a:p>
            <a:pPr marL="0" indent="0">
              <a:buNone/>
            </a:pPr>
            <a:r>
              <a:rPr lang="en-US" sz="1300" dirty="0">
                <a:solidFill>
                  <a:schemeClr val="accent4"/>
                </a:solidFill>
              </a:rPr>
              <a:t>closed deals purged: their outcome was not yet known at the cutoff</a:t>
            </a:r>
            <a:endParaRPr lang="en-US" sz="1300" dirty="0"/>
          </a:p>
        </p:txBody>
      </p:sp>
      <p:sp>
        <p:nvSpPr>
          <p:cNvPr id="16" name="Text 14"/>
          <p:cNvSpPr txBox="1"/>
          <p:nvPr/>
        </p:nvSpPr>
        <p:spPr>
          <a:xfrm>
            <a:off x="4480560" y="3886200"/>
            <a:ext cx="7132320" cy="2103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Deals engaged on the same date always stay in the same period</a:t>
            </a:r>
            <a:endParaRPr lang="en-US" sz="1600" dirty="0"/>
          </a:p>
          <a:p>
            <a:pPr marL="203200" indent="-203200">
              <a:spcAft>
                <a:spcPts val="800"/>
              </a:spcAft>
              <a:buSzPct val="100000"/>
              <a:buChar char="•"/>
            </a:pPr>
            <a:r>
              <a:rPr lang="en-US" sz="1500" dirty="0">
                <a:solidFill>
                  <a:schemeClr val="tx1"/>
                </a:solidFill>
              </a:rPr>
              <a:t>Train and validation outcomes must be known before the next period starts</a:t>
            </a:r>
            <a:endParaRPr lang="en-US" sz="1600" dirty="0"/>
          </a:p>
          <a:p>
            <a:pPr marL="203200" indent="-203200">
              <a:spcAft>
                <a:spcPts val="800"/>
              </a:spcAft>
              <a:buSzPct val="100000"/>
              <a:buChar char="•"/>
            </a:pPr>
            <a:r>
              <a:rPr lang="en-US" sz="1500" dirty="0">
                <a:solidFill>
                  <a:schemeClr val="tx1"/>
                </a:solidFill>
              </a:rPr>
              <a:t>Imputation, encoding and scaling are fit on training rows only</a:t>
            </a:r>
            <a:endParaRPr lang="en-US" sz="1600" dirty="0"/>
          </a:p>
          <a:p>
            <a:pPr marL="203200" indent="-203200">
              <a:spcAft>
                <a:spcPts val="800"/>
              </a:spcAft>
              <a:buSzPct val="100000"/>
              <a:buChar char="•"/>
            </a:pPr>
            <a:r>
              <a:rPr lang="en-US" sz="1500" dirty="0">
                <a:solidFill>
                  <a:schemeClr val="tx1"/>
                </a:solidFill>
              </a:rPr>
              <a:t>Check: a random split scores at most 0.04 AUC higher, still near chance</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Five models, one shared pipeline</a:t>
            </a:r>
            <a:endParaRPr lang="en-US" sz="3400" dirty="0"/>
          </a:p>
        </p:txBody>
      </p:sp>
      <p:sp>
        <p:nvSpPr>
          <p:cNvPr id="3" name="model-0"/>
          <p:cNvSpPr/>
          <p:nvPr/>
        </p:nvSpPr>
        <p:spPr>
          <a:xfrm>
            <a:off x="548640" y="1463040"/>
            <a:ext cx="2057400" cy="1600200"/>
          </a:xfrm>
          <a:prstGeom prst="roundRect">
            <a:avLst>
              <a:gd name="adj" fmla="val 4571"/>
            </a:avLst>
          </a:prstGeom>
          <a:solidFill>
            <a:schemeClr val="bg2"/>
          </a:solidFill>
          <a:ln/>
        </p:spPr>
        <p:txBody>
          <a:bodyPr/>
          <a:lstStyle/>
          <a:p>
            <a:endParaRPr/>
          </a:p>
        </p:txBody>
      </p:sp>
      <p:sp>
        <p:nvSpPr>
          <p:cNvPr id="4" name="Text 2"/>
          <p:cNvSpPr txBox="1"/>
          <p:nvPr/>
        </p:nvSpPr>
        <p:spPr>
          <a:xfrm>
            <a:off x="731520" y="1645920"/>
            <a:ext cx="1691640" cy="640080"/>
          </a:xfrm>
          <a:prstGeom prst="rect">
            <a:avLst/>
          </a:prstGeom>
          <a:noFill/>
          <a:ln/>
        </p:spPr>
        <p:txBody>
          <a:bodyPr wrap="square" lIns="0" tIns="0" rIns="0" bIns="0" rtlCol="0" anchor="t"/>
          <a:lstStyle/>
          <a:p>
            <a:pPr marL="0" indent="0">
              <a:buNone/>
            </a:pPr>
            <a:r>
              <a:rPr lang="en-US" sz="1800" b="1" dirty="0">
                <a:solidFill>
                  <a:schemeClr val="accent4"/>
                </a:solidFill>
              </a:rPr>
              <a:t>Dummy prior</a:t>
            </a:r>
            <a:endParaRPr lang="en-US" sz="1800" dirty="0"/>
          </a:p>
        </p:txBody>
      </p:sp>
      <p:sp>
        <p:nvSpPr>
          <p:cNvPr id="5" name="Text 3"/>
          <p:cNvSpPr txBox="1"/>
          <p:nvPr/>
        </p:nvSpPr>
        <p:spPr>
          <a:xfrm>
            <a:off x="731520" y="2331720"/>
            <a:ext cx="1691640" cy="777240"/>
          </a:xfrm>
          <a:prstGeom prst="rect">
            <a:avLst/>
          </a:prstGeom>
          <a:noFill/>
          <a:ln/>
        </p:spPr>
        <p:txBody>
          <a:bodyPr wrap="square" lIns="0" tIns="0" rIns="0" bIns="0" rtlCol="0" anchor="t"/>
          <a:lstStyle/>
          <a:p>
            <a:pPr marL="0" indent="0">
              <a:buNone/>
            </a:pPr>
            <a:r>
              <a:rPr lang="en-US" sz="1300" dirty="0">
                <a:solidFill>
                  <a:schemeClr val="tx1"/>
                </a:solidFill>
              </a:rPr>
              <a:t>Control: always predicts the training win rate</a:t>
            </a:r>
            <a:endParaRPr lang="en-US" sz="1300" dirty="0"/>
          </a:p>
        </p:txBody>
      </p:sp>
      <p:sp>
        <p:nvSpPr>
          <p:cNvPr id="6" name="model-1"/>
          <p:cNvSpPr/>
          <p:nvPr/>
        </p:nvSpPr>
        <p:spPr>
          <a:xfrm>
            <a:off x="2823210" y="1463040"/>
            <a:ext cx="2057400" cy="1600200"/>
          </a:xfrm>
          <a:prstGeom prst="roundRect">
            <a:avLst>
              <a:gd name="adj" fmla="val 4571"/>
            </a:avLst>
          </a:prstGeom>
          <a:solidFill>
            <a:schemeClr val="bg2"/>
          </a:solidFill>
          <a:ln/>
        </p:spPr>
        <p:txBody>
          <a:bodyPr/>
          <a:lstStyle/>
          <a:p>
            <a:endParaRPr/>
          </a:p>
        </p:txBody>
      </p:sp>
      <p:sp>
        <p:nvSpPr>
          <p:cNvPr id="7" name="Text 5"/>
          <p:cNvSpPr txBox="1"/>
          <p:nvPr/>
        </p:nvSpPr>
        <p:spPr>
          <a:xfrm>
            <a:off x="3006090" y="1645920"/>
            <a:ext cx="1691640" cy="640080"/>
          </a:xfrm>
          <a:prstGeom prst="rect">
            <a:avLst/>
          </a:prstGeom>
          <a:noFill/>
          <a:ln/>
        </p:spPr>
        <p:txBody>
          <a:bodyPr wrap="square" lIns="0" tIns="0" rIns="0" bIns="0" rtlCol="0" anchor="t"/>
          <a:lstStyle/>
          <a:p>
            <a:pPr marL="0" indent="0">
              <a:buNone/>
            </a:pPr>
            <a:r>
              <a:rPr lang="en-US" sz="1800" b="1" dirty="0">
                <a:solidFill>
                  <a:schemeClr val="tx2"/>
                </a:solidFill>
              </a:rPr>
              <a:t>Logistic Regression</a:t>
            </a:r>
            <a:endParaRPr lang="en-US" sz="1800" dirty="0"/>
          </a:p>
        </p:txBody>
      </p:sp>
      <p:sp>
        <p:nvSpPr>
          <p:cNvPr id="8" name="Text 6"/>
          <p:cNvSpPr txBox="1"/>
          <p:nvPr/>
        </p:nvSpPr>
        <p:spPr>
          <a:xfrm>
            <a:off x="3006090" y="2331720"/>
            <a:ext cx="1691640" cy="777240"/>
          </a:xfrm>
          <a:prstGeom prst="rect">
            <a:avLst/>
          </a:prstGeom>
          <a:noFill/>
          <a:ln/>
        </p:spPr>
        <p:txBody>
          <a:bodyPr wrap="square" lIns="0" tIns="0" rIns="0" bIns="0" rtlCol="0" anchor="t"/>
          <a:lstStyle/>
          <a:p>
            <a:pPr marL="0" indent="0">
              <a:buNone/>
            </a:pPr>
            <a:r>
              <a:rPr lang="en-US" sz="1300" dirty="0">
                <a:solidFill>
                  <a:schemeClr val="tx1"/>
                </a:solidFill>
              </a:rPr>
              <a:t>Linear baseline</a:t>
            </a:r>
            <a:endParaRPr lang="en-US" sz="1300" dirty="0"/>
          </a:p>
        </p:txBody>
      </p:sp>
      <p:sp>
        <p:nvSpPr>
          <p:cNvPr id="9" name="model-2"/>
          <p:cNvSpPr/>
          <p:nvPr/>
        </p:nvSpPr>
        <p:spPr>
          <a:xfrm>
            <a:off x="5097780" y="1463040"/>
            <a:ext cx="2057400" cy="1600200"/>
          </a:xfrm>
          <a:prstGeom prst="roundRect">
            <a:avLst>
              <a:gd name="adj" fmla="val 4571"/>
            </a:avLst>
          </a:prstGeom>
          <a:solidFill>
            <a:schemeClr val="bg2"/>
          </a:solidFill>
          <a:ln/>
        </p:spPr>
        <p:txBody>
          <a:bodyPr/>
          <a:lstStyle/>
          <a:p>
            <a:endParaRPr/>
          </a:p>
        </p:txBody>
      </p:sp>
      <p:sp>
        <p:nvSpPr>
          <p:cNvPr id="10" name="Text 8"/>
          <p:cNvSpPr txBox="1"/>
          <p:nvPr/>
        </p:nvSpPr>
        <p:spPr>
          <a:xfrm>
            <a:off x="5280660" y="1645920"/>
            <a:ext cx="1691640" cy="640080"/>
          </a:xfrm>
          <a:prstGeom prst="rect">
            <a:avLst/>
          </a:prstGeom>
          <a:noFill/>
          <a:ln/>
        </p:spPr>
        <p:txBody>
          <a:bodyPr wrap="square" lIns="0" tIns="0" rIns="0" bIns="0" rtlCol="0" anchor="t"/>
          <a:lstStyle/>
          <a:p>
            <a:pPr marL="0" indent="0">
              <a:buNone/>
            </a:pPr>
            <a:r>
              <a:rPr lang="en-US" sz="1800" b="1" dirty="0">
                <a:solidFill>
                  <a:schemeClr val="tx2"/>
                </a:solidFill>
              </a:rPr>
              <a:t>Random Forest</a:t>
            </a:r>
            <a:endParaRPr lang="en-US" sz="1800" dirty="0"/>
          </a:p>
        </p:txBody>
      </p:sp>
      <p:sp>
        <p:nvSpPr>
          <p:cNvPr id="11" name="Text 9"/>
          <p:cNvSpPr txBox="1"/>
          <p:nvPr/>
        </p:nvSpPr>
        <p:spPr>
          <a:xfrm>
            <a:off x="5280660" y="2331720"/>
            <a:ext cx="1691640" cy="777240"/>
          </a:xfrm>
          <a:prstGeom prst="rect">
            <a:avLst/>
          </a:prstGeom>
          <a:noFill/>
          <a:ln/>
        </p:spPr>
        <p:txBody>
          <a:bodyPr wrap="square" lIns="0" tIns="0" rIns="0" bIns="0" rtlCol="0" anchor="t"/>
          <a:lstStyle/>
          <a:p>
            <a:pPr marL="0" indent="0">
              <a:buNone/>
            </a:pPr>
            <a:r>
              <a:rPr lang="en-US" sz="1300" dirty="0">
                <a:solidFill>
                  <a:schemeClr val="tx1"/>
                </a:solidFill>
              </a:rPr>
              <a:t>300 trees, min leaf 5</a:t>
            </a:r>
            <a:endParaRPr lang="en-US" sz="1300" dirty="0"/>
          </a:p>
        </p:txBody>
      </p:sp>
      <p:sp>
        <p:nvSpPr>
          <p:cNvPr id="12" name="model-3"/>
          <p:cNvSpPr/>
          <p:nvPr/>
        </p:nvSpPr>
        <p:spPr>
          <a:xfrm>
            <a:off x="7372350" y="1463040"/>
            <a:ext cx="2057400" cy="1600200"/>
          </a:xfrm>
          <a:prstGeom prst="roundRect">
            <a:avLst>
              <a:gd name="adj" fmla="val 4571"/>
            </a:avLst>
          </a:prstGeom>
          <a:solidFill>
            <a:schemeClr val="bg2"/>
          </a:solidFill>
          <a:ln/>
        </p:spPr>
        <p:txBody>
          <a:bodyPr/>
          <a:lstStyle/>
          <a:p>
            <a:endParaRPr/>
          </a:p>
        </p:txBody>
      </p:sp>
      <p:sp>
        <p:nvSpPr>
          <p:cNvPr id="13" name="Text 11"/>
          <p:cNvSpPr txBox="1"/>
          <p:nvPr/>
        </p:nvSpPr>
        <p:spPr>
          <a:xfrm>
            <a:off x="7555230" y="1645920"/>
            <a:ext cx="1691640" cy="640080"/>
          </a:xfrm>
          <a:prstGeom prst="rect">
            <a:avLst/>
          </a:prstGeom>
          <a:noFill/>
          <a:ln/>
        </p:spPr>
        <p:txBody>
          <a:bodyPr wrap="square" lIns="0" tIns="0" rIns="0" bIns="0" rtlCol="0" anchor="t"/>
          <a:lstStyle/>
          <a:p>
            <a:pPr marL="0" indent="0">
              <a:buNone/>
            </a:pPr>
            <a:r>
              <a:rPr lang="en-US" sz="1800" b="1" dirty="0">
                <a:solidFill>
                  <a:schemeClr val="tx2"/>
                </a:solidFill>
              </a:rPr>
              <a:t>MLP</a:t>
            </a:r>
            <a:endParaRPr lang="en-US" sz="1800" dirty="0"/>
          </a:p>
        </p:txBody>
      </p:sp>
      <p:sp>
        <p:nvSpPr>
          <p:cNvPr id="14" name="Text 12"/>
          <p:cNvSpPr txBox="1"/>
          <p:nvPr/>
        </p:nvSpPr>
        <p:spPr>
          <a:xfrm>
            <a:off x="7555230" y="2331720"/>
            <a:ext cx="1691640" cy="777240"/>
          </a:xfrm>
          <a:prstGeom prst="rect">
            <a:avLst/>
          </a:prstGeom>
          <a:noFill/>
          <a:ln/>
        </p:spPr>
        <p:txBody>
          <a:bodyPr wrap="square" lIns="0" tIns="0" rIns="0" bIns="0" rtlCol="0" anchor="t"/>
          <a:lstStyle/>
          <a:p>
            <a:pPr marL="0" indent="0">
              <a:buNone/>
            </a:pPr>
            <a:r>
              <a:rPr lang="en-US" sz="1300" dirty="0">
                <a:solidFill>
                  <a:schemeClr val="tx1"/>
                </a:solidFill>
              </a:rPr>
              <a:t>Hidden layers 64 → 32, early stopping</a:t>
            </a:r>
            <a:endParaRPr lang="en-US" sz="1300" dirty="0"/>
          </a:p>
        </p:txBody>
      </p:sp>
      <p:sp>
        <p:nvSpPr>
          <p:cNvPr id="15" name="model-4"/>
          <p:cNvSpPr/>
          <p:nvPr/>
        </p:nvSpPr>
        <p:spPr>
          <a:xfrm>
            <a:off x="9646920" y="1463040"/>
            <a:ext cx="2057400" cy="1600200"/>
          </a:xfrm>
          <a:prstGeom prst="roundRect">
            <a:avLst>
              <a:gd name="adj" fmla="val 4571"/>
            </a:avLst>
          </a:prstGeom>
          <a:solidFill>
            <a:schemeClr val="bg2"/>
          </a:solidFill>
          <a:ln/>
        </p:spPr>
        <p:txBody>
          <a:bodyPr/>
          <a:lstStyle/>
          <a:p>
            <a:endParaRPr/>
          </a:p>
        </p:txBody>
      </p:sp>
      <p:sp>
        <p:nvSpPr>
          <p:cNvPr id="16" name="Text 14"/>
          <p:cNvSpPr txBox="1"/>
          <p:nvPr/>
        </p:nvSpPr>
        <p:spPr>
          <a:xfrm>
            <a:off x="9829800" y="1645920"/>
            <a:ext cx="1691640" cy="640080"/>
          </a:xfrm>
          <a:prstGeom prst="rect">
            <a:avLst/>
          </a:prstGeom>
          <a:noFill/>
          <a:ln/>
        </p:spPr>
        <p:txBody>
          <a:bodyPr wrap="square" lIns="0" tIns="0" rIns="0" bIns="0" rtlCol="0" anchor="t"/>
          <a:lstStyle/>
          <a:p>
            <a:pPr marL="0" indent="0">
              <a:buNone/>
            </a:pPr>
            <a:r>
              <a:rPr lang="en-US" sz="1800" b="1" dirty="0">
                <a:solidFill>
                  <a:schemeClr val="tx2"/>
                </a:solidFill>
              </a:rPr>
              <a:t>TabNet</a:t>
            </a:r>
            <a:endParaRPr lang="en-US" sz="1800" dirty="0"/>
          </a:p>
        </p:txBody>
      </p:sp>
      <p:sp>
        <p:nvSpPr>
          <p:cNvPr id="17" name="Text 15"/>
          <p:cNvSpPr txBox="1"/>
          <p:nvPr/>
        </p:nvSpPr>
        <p:spPr>
          <a:xfrm>
            <a:off x="9829800" y="2331720"/>
            <a:ext cx="1691640" cy="777240"/>
          </a:xfrm>
          <a:prstGeom prst="rect">
            <a:avLst/>
          </a:prstGeom>
          <a:noFill/>
          <a:ln/>
        </p:spPr>
        <p:txBody>
          <a:bodyPr wrap="square" lIns="0" tIns="0" rIns="0" bIns="0" rtlCol="0" anchor="t"/>
          <a:lstStyle/>
          <a:p>
            <a:pPr marL="0" indent="0">
              <a:buNone/>
            </a:pPr>
            <a:r>
              <a:rPr lang="en-US" sz="1300" dirty="0">
                <a:solidFill>
                  <a:schemeClr val="tx1"/>
                </a:solidFill>
              </a:rPr>
              <a:t>Attentive deep model for tabular data</a:t>
            </a:r>
            <a:endParaRPr lang="en-US" sz="1300" dirty="0"/>
          </a:p>
        </p:txBody>
      </p:sp>
      <p:sp>
        <p:nvSpPr>
          <p:cNvPr id="18" name="icon-bg-bullseye"/>
          <p:cNvSpPr/>
          <p:nvPr/>
        </p:nvSpPr>
        <p:spPr>
          <a:xfrm>
            <a:off x="548640" y="3886200"/>
            <a:ext cx="594360" cy="594360"/>
          </a:xfrm>
          <a:prstGeom prst="ellipse">
            <a:avLst/>
          </a:prstGeom>
          <a:solidFill>
            <a:schemeClr val="accent1"/>
          </a:solidFill>
          <a:ln/>
        </p:spPr>
        <p:txBody>
          <a:bodyPr/>
          <a:lstStyle/>
          <a:p>
            <a:endParaRPr/>
          </a:p>
        </p:txBody>
      </p:sp>
      <p:pic>
        <p:nvPicPr>
          <p:cNvPr id="19" name="icon-bullseye" descr="preencoded.png"/>
          <p:cNvPicPr>
            <a:picLocks noChangeAspect="1"/>
          </p:cNvPicPr>
          <p:nvPr/>
        </p:nvPicPr>
        <p:blipFill>
          <a:blip r:embed="rId3"/>
          <a:stretch>
            <a:fillRect/>
          </a:stretch>
        </p:blipFill>
        <p:spPr>
          <a:xfrm>
            <a:off x="697230" y="4034790"/>
            <a:ext cx="297180" cy="297180"/>
          </a:xfrm>
          <a:prstGeom prst="rect">
            <a:avLst/>
          </a:prstGeom>
        </p:spPr>
      </p:pic>
      <p:sp>
        <p:nvSpPr>
          <p:cNvPr id="20" name="Text 17"/>
          <p:cNvSpPr txBox="1"/>
          <p:nvPr/>
        </p:nvSpPr>
        <p:spPr>
          <a:xfrm>
            <a:off x="1280160" y="3858768"/>
            <a:ext cx="1783080" cy="320040"/>
          </a:xfrm>
          <a:prstGeom prst="rect">
            <a:avLst/>
          </a:prstGeom>
          <a:noFill/>
          <a:ln/>
        </p:spPr>
        <p:txBody>
          <a:bodyPr wrap="square" lIns="0" tIns="0" rIns="0" bIns="0" rtlCol="0" anchor="t"/>
          <a:lstStyle/>
          <a:p>
            <a:pPr marL="0" indent="0">
              <a:buNone/>
            </a:pPr>
            <a:r>
              <a:rPr lang="en-US" sz="1700" b="1" dirty="0">
                <a:solidFill>
                  <a:schemeClr val="tx2"/>
                </a:solidFill>
              </a:rPr>
              <a:t>Select model</a:t>
            </a:r>
            <a:endParaRPr lang="en-US" sz="1700" dirty="0"/>
          </a:p>
        </p:txBody>
      </p:sp>
      <p:sp>
        <p:nvSpPr>
          <p:cNvPr id="21" name="Text 18"/>
          <p:cNvSpPr txBox="1"/>
          <p:nvPr/>
        </p:nvSpPr>
        <p:spPr>
          <a:xfrm>
            <a:off x="1280160" y="4206240"/>
            <a:ext cx="1783080" cy="640080"/>
          </a:xfrm>
          <a:prstGeom prst="rect">
            <a:avLst/>
          </a:prstGeom>
          <a:noFill/>
          <a:ln/>
        </p:spPr>
        <p:txBody>
          <a:bodyPr wrap="square" lIns="0" tIns="0" rIns="0" bIns="0" rtlCol="0" anchor="t"/>
          <a:lstStyle/>
          <a:p>
            <a:pPr marL="0" indent="0">
              <a:buNone/>
            </a:pPr>
            <a:r>
              <a:rPr lang="en-US" sz="1300" dirty="0">
                <a:solidFill>
                  <a:schemeClr val="accent4"/>
                </a:solidFill>
              </a:rPr>
              <a:t>by validation ROC-AUC</a:t>
            </a:r>
            <a:endParaRPr lang="en-US" sz="1300" dirty="0"/>
          </a:p>
        </p:txBody>
      </p:sp>
      <p:sp>
        <p:nvSpPr>
          <p:cNvPr id="22" name="icon-bg-sync"/>
          <p:cNvSpPr/>
          <p:nvPr/>
        </p:nvSpPr>
        <p:spPr>
          <a:xfrm>
            <a:off x="3408578" y="3886200"/>
            <a:ext cx="594360" cy="594360"/>
          </a:xfrm>
          <a:prstGeom prst="ellipse">
            <a:avLst/>
          </a:prstGeom>
          <a:solidFill>
            <a:schemeClr val="accent1"/>
          </a:solidFill>
          <a:ln/>
        </p:spPr>
        <p:txBody>
          <a:bodyPr/>
          <a:lstStyle/>
          <a:p>
            <a:endParaRPr/>
          </a:p>
        </p:txBody>
      </p:sp>
      <p:pic>
        <p:nvPicPr>
          <p:cNvPr id="23" name="icon-sync" descr="preencoded.png"/>
          <p:cNvPicPr>
            <a:picLocks noChangeAspect="1"/>
          </p:cNvPicPr>
          <p:nvPr/>
        </p:nvPicPr>
        <p:blipFill>
          <a:blip r:embed="rId4"/>
          <a:stretch>
            <a:fillRect/>
          </a:stretch>
        </p:blipFill>
        <p:spPr>
          <a:xfrm>
            <a:off x="3557168" y="4034790"/>
            <a:ext cx="297180" cy="297180"/>
          </a:xfrm>
          <a:prstGeom prst="rect">
            <a:avLst/>
          </a:prstGeom>
        </p:spPr>
      </p:pic>
      <p:sp>
        <p:nvSpPr>
          <p:cNvPr id="24" name="Text 20"/>
          <p:cNvSpPr txBox="1"/>
          <p:nvPr/>
        </p:nvSpPr>
        <p:spPr>
          <a:xfrm>
            <a:off x="4140098" y="3858768"/>
            <a:ext cx="1783080" cy="320040"/>
          </a:xfrm>
          <a:prstGeom prst="rect">
            <a:avLst/>
          </a:prstGeom>
          <a:noFill/>
          <a:ln/>
        </p:spPr>
        <p:txBody>
          <a:bodyPr wrap="square" lIns="0" tIns="0" rIns="0" bIns="0" rtlCol="0" anchor="t"/>
          <a:lstStyle/>
          <a:p>
            <a:pPr marL="0" indent="0">
              <a:buNone/>
            </a:pPr>
            <a:r>
              <a:rPr lang="en-US" sz="1700" b="1" dirty="0">
                <a:solidFill>
                  <a:schemeClr val="tx2"/>
                </a:solidFill>
              </a:rPr>
              <a:t>Pick threshold</a:t>
            </a:r>
            <a:endParaRPr lang="en-US" sz="1700" dirty="0"/>
          </a:p>
        </p:txBody>
      </p:sp>
      <p:sp>
        <p:nvSpPr>
          <p:cNvPr id="25" name="Text 21"/>
          <p:cNvSpPr txBox="1"/>
          <p:nvPr/>
        </p:nvSpPr>
        <p:spPr>
          <a:xfrm>
            <a:off x="4140098" y="4206240"/>
            <a:ext cx="1783080" cy="640080"/>
          </a:xfrm>
          <a:prstGeom prst="rect">
            <a:avLst/>
          </a:prstGeom>
          <a:noFill/>
          <a:ln/>
        </p:spPr>
        <p:txBody>
          <a:bodyPr wrap="square" lIns="0" tIns="0" rIns="0" bIns="0" rtlCol="0" anchor="t"/>
          <a:lstStyle/>
          <a:p>
            <a:pPr marL="0" indent="0">
              <a:buNone/>
            </a:pPr>
            <a:r>
              <a:rPr lang="en-US" sz="1300" dirty="0">
                <a:solidFill>
                  <a:schemeClr val="accent4"/>
                </a:solidFill>
              </a:rPr>
              <a:t>maximise validation macro-F1</a:t>
            </a:r>
            <a:endParaRPr lang="en-US" sz="1300" dirty="0"/>
          </a:p>
        </p:txBody>
      </p:sp>
      <p:sp>
        <p:nvSpPr>
          <p:cNvPr id="26" name="icon-bg-layers"/>
          <p:cNvSpPr/>
          <p:nvPr/>
        </p:nvSpPr>
        <p:spPr>
          <a:xfrm>
            <a:off x="6268517" y="3886200"/>
            <a:ext cx="594360" cy="594360"/>
          </a:xfrm>
          <a:prstGeom prst="ellipse">
            <a:avLst/>
          </a:prstGeom>
          <a:solidFill>
            <a:schemeClr val="accent1"/>
          </a:solidFill>
          <a:ln/>
        </p:spPr>
        <p:txBody>
          <a:bodyPr/>
          <a:lstStyle/>
          <a:p>
            <a:endParaRPr/>
          </a:p>
        </p:txBody>
      </p:sp>
      <p:pic>
        <p:nvPicPr>
          <p:cNvPr id="27" name="icon-layers" descr="preencoded.png"/>
          <p:cNvPicPr>
            <a:picLocks noChangeAspect="1"/>
          </p:cNvPicPr>
          <p:nvPr/>
        </p:nvPicPr>
        <p:blipFill>
          <a:blip r:embed="rId5"/>
          <a:stretch>
            <a:fillRect/>
          </a:stretch>
        </p:blipFill>
        <p:spPr>
          <a:xfrm>
            <a:off x="6417107" y="4034790"/>
            <a:ext cx="297180" cy="297180"/>
          </a:xfrm>
          <a:prstGeom prst="rect">
            <a:avLst/>
          </a:prstGeom>
        </p:spPr>
      </p:pic>
      <p:sp>
        <p:nvSpPr>
          <p:cNvPr id="28" name="Text 23"/>
          <p:cNvSpPr txBox="1"/>
          <p:nvPr/>
        </p:nvSpPr>
        <p:spPr>
          <a:xfrm>
            <a:off x="7000037" y="3858768"/>
            <a:ext cx="1783080" cy="320040"/>
          </a:xfrm>
          <a:prstGeom prst="rect">
            <a:avLst/>
          </a:prstGeom>
          <a:noFill/>
          <a:ln/>
        </p:spPr>
        <p:txBody>
          <a:bodyPr wrap="square" lIns="0" tIns="0" rIns="0" bIns="0" rtlCol="0" anchor="t"/>
          <a:lstStyle/>
          <a:p>
            <a:pPr marL="0" indent="0">
              <a:buNone/>
            </a:pPr>
            <a:r>
              <a:rPr lang="en-US" sz="1700" b="1" dirty="0">
                <a:solidFill>
                  <a:schemeClr val="tx2"/>
                </a:solidFill>
              </a:rPr>
              <a:t>Calibrate</a:t>
            </a:r>
            <a:endParaRPr lang="en-US" sz="1700" dirty="0"/>
          </a:p>
        </p:txBody>
      </p:sp>
      <p:sp>
        <p:nvSpPr>
          <p:cNvPr id="29" name="Text 24"/>
          <p:cNvSpPr txBox="1"/>
          <p:nvPr/>
        </p:nvSpPr>
        <p:spPr>
          <a:xfrm>
            <a:off x="7000037" y="4206240"/>
            <a:ext cx="1783080" cy="640080"/>
          </a:xfrm>
          <a:prstGeom prst="rect">
            <a:avLst/>
          </a:prstGeom>
          <a:noFill/>
          <a:ln/>
        </p:spPr>
        <p:txBody>
          <a:bodyPr wrap="square" lIns="0" tIns="0" rIns="0" bIns="0" rtlCol="0" anchor="t"/>
          <a:lstStyle/>
          <a:p>
            <a:pPr marL="0" indent="0">
              <a:buNone/>
            </a:pPr>
            <a:r>
              <a:rPr lang="en-US" sz="1300" dirty="0">
                <a:solidFill>
                  <a:schemeClr val="accent4"/>
                </a:solidFill>
              </a:rPr>
              <a:t>sigmoid on validation; base model frozen</a:t>
            </a:r>
            <a:endParaRPr lang="en-US" sz="1300" dirty="0"/>
          </a:p>
        </p:txBody>
      </p:sp>
      <p:sp>
        <p:nvSpPr>
          <p:cNvPr id="30" name="icon-bg-check"/>
          <p:cNvSpPr/>
          <p:nvPr/>
        </p:nvSpPr>
        <p:spPr>
          <a:xfrm>
            <a:off x="9128455" y="3886200"/>
            <a:ext cx="594360" cy="594360"/>
          </a:xfrm>
          <a:prstGeom prst="ellipse">
            <a:avLst/>
          </a:prstGeom>
          <a:solidFill>
            <a:schemeClr val="tx2"/>
          </a:solidFill>
          <a:ln/>
        </p:spPr>
        <p:txBody>
          <a:bodyPr/>
          <a:lstStyle/>
          <a:p>
            <a:endParaRPr/>
          </a:p>
        </p:txBody>
      </p:sp>
      <p:pic>
        <p:nvPicPr>
          <p:cNvPr id="31" name="icon-check" descr="preencoded.png"/>
          <p:cNvPicPr>
            <a:picLocks noChangeAspect="1"/>
          </p:cNvPicPr>
          <p:nvPr/>
        </p:nvPicPr>
        <p:blipFill>
          <a:blip r:embed="rId6"/>
          <a:stretch>
            <a:fillRect/>
          </a:stretch>
        </p:blipFill>
        <p:spPr>
          <a:xfrm>
            <a:off x="9277045" y="4034790"/>
            <a:ext cx="297180" cy="297180"/>
          </a:xfrm>
          <a:prstGeom prst="rect">
            <a:avLst/>
          </a:prstGeom>
        </p:spPr>
      </p:pic>
      <p:sp>
        <p:nvSpPr>
          <p:cNvPr id="32" name="Text 26"/>
          <p:cNvSpPr txBox="1"/>
          <p:nvPr/>
        </p:nvSpPr>
        <p:spPr>
          <a:xfrm>
            <a:off x="9859975" y="3858768"/>
            <a:ext cx="1783080" cy="320040"/>
          </a:xfrm>
          <a:prstGeom prst="rect">
            <a:avLst/>
          </a:prstGeom>
          <a:noFill/>
          <a:ln/>
        </p:spPr>
        <p:txBody>
          <a:bodyPr wrap="square" lIns="0" tIns="0" rIns="0" bIns="0" rtlCol="0" anchor="t"/>
          <a:lstStyle/>
          <a:p>
            <a:pPr marL="0" indent="0">
              <a:buNone/>
            </a:pPr>
            <a:r>
              <a:rPr lang="en-US" sz="1700" b="1" dirty="0">
                <a:solidFill>
                  <a:schemeClr val="tx2"/>
                </a:solidFill>
              </a:rPr>
              <a:t>Test once</a:t>
            </a:r>
            <a:endParaRPr lang="en-US" sz="1700" dirty="0"/>
          </a:p>
        </p:txBody>
      </p:sp>
      <p:sp>
        <p:nvSpPr>
          <p:cNvPr id="33" name="Text 27"/>
          <p:cNvSpPr txBox="1"/>
          <p:nvPr/>
        </p:nvSpPr>
        <p:spPr>
          <a:xfrm>
            <a:off x="9859975" y="4206240"/>
            <a:ext cx="1783080" cy="640080"/>
          </a:xfrm>
          <a:prstGeom prst="rect">
            <a:avLst/>
          </a:prstGeom>
          <a:noFill/>
          <a:ln/>
        </p:spPr>
        <p:txBody>
          <a:bodyPr wrap="square" lIns="0" tIns="0" rIns="0" bIns="0" rtlCol="0" anchor="t"/>
          <a:lstStyle/>
          <a:p>
            <a:pPr marL="0" indent="0">
              <a:buNone/>
            </a:pPr>
            <a:r>
              <a:rPr lang="en-US" sz="1300" dirty="0">
                <a:solidFill>
                  <a:schemeClr val="accent4"/>
                </a:solidFill>
              </a:rPr>
              <a:t>exploratory holdout</a:t>
            </a:r>
            <a:endParaRPr lang="en-US" sz="1300" dirty="0"/>
          </a:p>
        </p:txBody>
      </p:sp>
      <p:sp>
        <p:nvSpPr>
          <p:cNvPr id="34" name="Text 28"/>
          <p:cNvSpPr txBox="1"/>
          <p:nvPr/>
        </p:nvSpPr>
        <p:spPr>
          <a:xfrm>
            <a:off x="548640" y="5394960"/>
            <a:ext cx="11094415" cy="365760"/>
          </a:xfrm>
          <a:prstGeom prst="rect">
            <a:avLst/>
          </a:prstGeom>
          <a:noFill/>
          <a:ln/>
        </p:spPr>
        <p:txBody>
          <a:bodyPr wrap="square" lIns="0" tIns="0" rIns="0" bIns="0" rtlCol="0" anchor="t"/>
          <a:lstStyle/>
          <a:p>
            <a:pPr marL="0" indent="0">
              <a:buNone/>
            </a:pPr>
            <a:r>
              <a:rPr lang="en-US" sz="1500" i="1" dirty="0">
                <a:solidFill>
                  <a:schemeClr val="accent4"/>
                </a:solidFill>
              </a:rPr>
              <a:t>Every model sees the same rows and the same preprocessing, trained on CPU with seed 42.</a:t>
            </a:r>
            <a:endParaRPr lang="en-US" sz="1500" dirty="0"/>
          </a:p>
        </p:txBody>
      </p:sp>
      <p:sp>
        <p:nvSpPr>
          <p:cNvPr id="3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How MLP and TabNet work</a:t>
            </a:r>
            <a:endParaRPr lang="en-US" sz="3400" dirty="0"/>
          </a:p>
        </p:txBody>
      </p:sp>
      <p:sp>
        <p:nvSpPr>
          <p:cNvPr id="3" name="icon-bg-warn"/>
          <p:cNvSpPr/>
          <p:nvPr/>
        </p:nvSpPr>
        <p:spPr>
          <a:xfrm>
            <a:off x="548640" y="1417320"/>
            <a:ext cx="548640" cy="548640"/>
          </a:xfrm>
          <a:prstGeom prst="ellipse">
            <a:avLst/>
          </a:prstGeom>
          <a:solidFill>
            <a:schemeClr val="accent3"/>
          </a:solidFill>
          <a:ln/>
        </p:spPr>
        <p:txBody>
          <a:bodyPr/>
          <a:lstStyle/>
          <a:p>
            <a:endParaRPr/>
          </a:p>
        </p:txBody>
      </p:sp>
      <p:pic>
        <p:nvPicPr>
          <p:cNvPr id="4" name="icon-warn" descr="preencoded.png"/>
          <p:cNvPicPr>
            <a:picLocks noChangeAspect="1"/>
          </p:cNvPicPr>
          <p:nvPr/>
        </p:nvPicPr>
        <p:blipFill>
          <a:blip r:embed="rId3"/>
          <a:stretch>
            <a:fillRect/>
          </a:stretch>
        </p:blipFill>
        <p:spPr>
          <a:xfrm>
            <a:off x="685800" y="1554480"/>
            <a:ext cx="274320" cy="274320"/>
          </a:xfrm>
          <a:prstGeom prst="rect">
            <a:avLst/>
          </a:prstGeom>
        </p:spPr>
      </p:pic>
      <p:sp>
        <p:nvSpPr>
          <p:cNvPr id="5" name="Text 2"/>
          <p:cNvSpPr txBox="1"/>
          <p:nvPr/>
        </p:nvSpPr>
        <p:spPr>
          <a:xfrm>
            <a:off x="1280160" y="1463040"/>
            <a:ext cx="4587088" cy="457200"/>
          </a:xfrm>
          <a:prstGeom prst="rect">
            <a:avLst/>
          </a:prstGeom>
          <a:noFill/>
          <a:ln/>
        </p:spPr>
        <p:txBody>
          <a:bodyPr wrap="square" lIns="0" tIns="0" rIns="0" bIns="0" rtlCol="0" anchor="ctr"/>
          <a:lstStyle/>
          <a:p>
            <a:pPr marL="0" indent="0">
              <a:buNone/>
            </a:pPr>
            <a:r>
              <a:rPr lang="en-US" sz="2000" b="1" dirty="0">
                <a:solidFill>
                  <a:schemeClr val="tx2"/>
                </a:solidFill>
              </a:rPr>
              <a:t>MLP (multilayer perceptron)</a:t>
            </a:r>
            <a:endParaRPr lang="en-US" sz="2000" dirty="0"/>
          </a:p>
        </p:txBody>
      </p:sp>
      <p:sp>
        <p:nvSpPr>
          <p:cNvPr id="6" name="Text 3"/>
          <p:cNvSpPr txBox="1"/>
          <p:nvPr/>
        </p:nvSpPr>
        <p:spPr>
          <a:xfrm>
            <a:off x="548640" y="2011680"/>
            <a:ext cx="5318608" cy="237744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chemeClr val="tx1"/>
                </a:solidFill>
              </a:rPr>
              <a:t>Fully connected layers: every neuron sees every input at once</a:t>
            </a:r>
            <a:endParaRPr lang="en-US" sz="1500" dirty="0"/>
          </a:p>
          <a:p>
            <a:pPr marL="203200" indent="-203200">
              <a:spcAft>
                <a:spcPts val="400"/>
              </a:spcAft>
              <a:buSzPct val="100000"/>
              <a:buChar char="•"/>
            </a:pPr>
            <a:r>
              <a:rPr lang="en-US" sz="1300" dirty="0">
                <a:solidFill>
                  <a:schemeClr val="tx1"/>
                </a:solidFill>
              </a:rPr>
              <a:t>Our network: inputs → 64 ReLU → 32 ReLU → sigmoid P(Won)</a:t>
            </a:r>
            <a:endParaRPr lang="en-US" sz="1500" dirty="0"/>
          </a:p>
          <a:p>
            <a:pPr marL="203200" indent="-203200">
              <a:spcAft>
                <a:spcPts val="400"/>
              </a:spcAft>
              <a:buSzPct val="100000"/>
              <a:buChar char="•"/>
            </a:pPr>
            <a:r>
              <a:rPr lang="en-US" sz="1300" dirty="0">
                <a:solidFill>
                  <a:schemeClr val="tx1"/>
                </a:solidFill>
              </a:rPr>
              <a:t>Feature interactions are learned implicitly inside weighted sums</a:t>
            </a:r>
            <a:endParaRPr lang="en-US" sz="1500" dirty="0"/>
          </a:p>
          <a:p>
            <a:pPr marL="203200" indent="-203200">
              <a:spcAft>
                <a:spcPts val="400"/>
              </a:spcAft>
              <a:buSzPct val="100000"/>
              <a:buChar char="•"/>
            </a:pPr>
            <a:r>
              <a:rPr lang="en-US" sz="1300" dirty="0">
                <a:solidFill>
                  <a:schemeClr val="tx1"/>
                </a:solidFill>
              </a:rPr>
              <a:t>Regularised by L2 weight decay and early stopping</a:t>
            </a:r>
            <a:endParaRPr lang="en-US" sz="1500" dirty="0"/>
          </a:p>
          <a:p>
            <a:pPr marL="203200" indent="-203200">
              <a:spcAft>
                <a:spcPts val="400"/>
              </a:spcAft>
              <a:buSzPct val="100000"/>
              <a:buChar char="•"/>
            </a:pPr>
            <a:r>
              <a:rPr lang="en-US" sz="1300" dirty="0">
                <a:solidFill>
                  <a:schemeClr val="tx1"/>
                </a:solidFill>
              </a:rPr>
              <a:t>No built-in view of which inputs matter: needs post-hoc methods (permutation, SHAP)</a:t>
            </a:r>
            <a:endParaRPr lang="en-US" sz="1500" dirty="0"/>
          </a:p>
        </p:txBody>
      </p:sp>
      <p:sp>
        <p:nvSpPr>
          <p:cNvPr id="7" name="icon-bg-search"/>
          <p:cNvSpPr/>
          <p:nvPr/>
        </p:nvSpPr>
        <p:spPr>
          <a:xfrm>
            <a:off x="6324448" y="1417320"/>
            <a:ext cx="548640" cy="548640"/>
          </a:xfrm>
          <a:prstGeom prst="ellipse">
            <a:avLst/>
          </a:prstGeom>
          <a:solidFill>
            <a:schemeClr val="accent1"/>
          </a:solidFill>
          <a:ln/>
        </p:spPr>
        <p:txBody>
          <a:bodyPr/>
          <a:lstStyle/>
          <a:p>
            <a:endParaRPr/>
          </a:p>
        </p:txBody>
      </p:sp>
      <p:pic>
        <p:nvPicPr>
          <p:cNvPr id="8" name="icon-search" descr="preencoded.png"/>
          <p:cNvPicPr>
            <a:picLocks noChangeAspect="1"/>
          </p:cNvPicPr>
          <p:nvPr/>
        </p:nvPicPr>
        <p:blipFill>
          <a:blip r:embed="rId4"/>
          <a:stretch>
            <a:fillRect/>
          </a:stretch>
        </p:blipFill>
        <p:spPr>
          <a:xfrm>
            <a:off x="6461608" y="1554480"/>
            <a:ext cx="274320" cy="274320"/>
          </a:xfrm>
          <a:prstGeom prst="rect">
            <a:avLst/>
          </a:prstGeom>
        </p:spPr>
      </p:pic>
      <p:sp>
        <p:nvSpPr>
          <p:cNvPr id="9" name="Text 5"/>
          <p:cNvSpPr txBox="1"/>
          <p:nvPr/>
        </p:nvSpPr>
        <p:spPr>
          <a:xfrm>
            <a:off x="7055968" y="1463040"/>
            <a:ext cx="4587088" cy="457200"/>
          </a:xfrm>
          <a:prstGeom prst="rect">
            <a:avLst/>
          </a:prstGeom>
          <a:noFill/>
          <a:ln/>
        </p:spPr>
        <p:txBody>
          <a:bodyPr wrap="square" lIns="0" tIns="0" rIns="0" bIns="0" rtlCol="0" anchor="ctr"/>
          <a:lstStyle/>
          <a:p>
            <a:pPr marL="0" indent="0">
              <a:buNone/>
            </a:pPr>
            <a:r>
              <a:rPr lang="en-US" sz="2000" b="1" dirty="0">
                <a:solidFill>
                  <a:schemeClr val="tx2"/>
                </a:solidFill>
              </a:rPr>
              <a:t>TabNet (Arik &amp; Pfister, 2021)</a:t>
            </a:r>
            <a:endParaRPr lang="en-US" sz="2000" dirty="0"/>
          </a:p>
        </p:txBody>
      </p:sp>
      <p:sp>
        <p:nvSpPr>
          <p:cNvPr id="10" name="Text 6"/>
          <p:cNvSpPr txBox="1"/>
          <p:nvPr/>
        </p:nvSpPr>
        <p:spPr>
          <a:xfrm>
            <a:off x="6324448" y="2011680"/>
            <a:ext cx="5318608" cy="237744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chemeClr val="tx1"/>
                </a:solidFill>
              </a:rPr>
              <a:t>Several sequential decision steps (we use 3)</a:t>
            </a:r>
            <a:endParaRPr lang="en-US" sz="1500" dirty="0"/>
          </a:p>
          <a:p>
            <a:pPr marL="203200" indent="-203200">
              <a:spcAft>
                <a:spcPts val="400"/>
              </a:spcAft>
              <a:buSzPct val="100000"/>
              <a:buChar char="•"/>
            </a:pPr>
            <a:r>
              <a:rPr lang="en-US" sz="1300" dirty="0">
                <a:solidFill>
                  <a:schemeClr val="tx1"/>
                </a:solidFill>
              </a:rPr>
              <a:t>At each step, an attentive transformer outputs a sparse mask (sparsemax) that selects a few inputs, separately for every deal</a:t>
            </a:r>
            <a:endParaRPr lang="en-US" sz="1500" dirty="0"/>
          </a:p>
          <a:p>
            <a:pPr marL="203200" indent="-203200">
              <a:spcAft>
                <a:spcPts val="400"/>
              </a:spcAft>
              <a:buSzPct val="100000"/>
              <a:buChar char="•"/>
            </a:pPr>
            <a:r>
              <a:rPr lang="en-US" sz="1300" dirty="0">
                <a:solidFill>
                  <a:schemeClr val="tx1"/>
                </a:solidFill>
              </a:rPr>
              <a:t>A feature transformer (shared + step-specific GLU blocks) processes only the selected inputs; step outputs are added up</a:t>
            </a:r>
            <a:endParaRPr lang="en-US" sz="1500" dirty="0"/>
          </a:p>
          <a:p>
            <a:pPr marL="203200" indent="-203200">
              <a:spcAft>
                <a:spcPts val="400"/>
              </a:spcAft>
              <a:buSzPct val="100000"/>
              <a:buChar char="•"/>
            </a:pPr>
            <a:r>
              <a:rPr lang="en-US" sz="1300" dirty="0">
                <a:solidFill>
                  <a:schemeClr val="tx1"/>
                </a:solidFill>
              </a:rPr>
              <a:t>A prior term discourages reusing the same input in every step; a sparsity loss keeps masks small</a:t>
            </a:r>
            <a:endParaRPr lang="en-US" sz="1500" dirty="0"/>
          </a:p>
          <a:p>
            <a:pPr marL="203200" indent="-203200">
              <a:spcAft>
                <a:spcPts val="400"/>
              </a:spcAft>
              <a:buSzPct val="100000"/>
              <a:buChar char="•"/>
            </a:pPr>
            <a:r>
              <a:rPr lang="en-US" sz="1300" dirty="0">
                <a:solidFill>
                  <a:schemeClr val="tx1"/>
                </a:solidFill>
              </a:rPr>
              <a:t>The masks are a built-in, per-deal explanation of which inputs were used</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graphicFrame>
        <p:nvGraphicFramePr>
          <p:cNvPr id="26" name="metrics-table"/>
          <p:cNvGraphicFramePr>
            <a:graphicFrameLocks noGrp="1"/>
          </p:cNvGraphicFramePr>
          <p:nvPr>
            <p:extLst>
              <p:ext uri="{D42A27DB-BD31-4B8C-83A1-F6EECF244321}">
                <p14:modId xmlns:p14="http://schemas.microsoft.com/office/powerpoint/2010/main" val="1579011935"/>
              </p:ext>
            </p:extLst>
          </p:nvPr>
        </p:nvGraphicFramePr>
        <p:xfrm>
          <a:off x="548640" y="4526280"/>
          <a:ext cx="11091672" cy="1722120"/>
        </p:xfrm>
        <a:graphic>
          <a:graphicData uri="http://schemas.openxmlformats.org/drawingml/2006/table">
            <a:tbl>
              <a:tblPr/>
              <a:tblGrid>
                <a:gridCol w="23774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283464">
                <a:tc>
                  <a:txBody>
                    <a:bodyPr/>
                    <a:lstStyle/>
                    <a:p>
                      <a:pPr marL="0" indent="0" algn="l">
                        <a:buNone/>
                      </a:pP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marL="0" indent="0" algn="l">
                        <a:buNone/>
                      </a:pPr>
                      <a:r>
                        <a:rPr lang="en-US" sz="1200" b="1" dirty="0">
                          <a:solidFill>
                            <a:schemeClr val="bg1"/>
                          </a:solidFill>
                        </a:rPr>
                        <a:t>MLP</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marL="0" indent="0" algn="l">
                        <a:buNone/>
                      </a:pPr>
                      <a:r>
                        <a:rPr lang="en-US" sz="1200" b="1" dirty="0">
                          <a:solidFill>
                            <a:schemeClr val="bg1"/>
                          </a:solidFill>
                        </a:rPr>
                        <a:t>TabNet</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83464">
                <a:tc>
                  <a:txBody>
                    <a:bodyPr/>
                    <a:lstStyle/>
                    <a:p>
                      <a:pPr marL="0" indent="0" algn="l">
                        <a:buNone/>
                      </a:pPr>
                      <a:r>
                        <a:rPr lang="en-US" sz="1200" dirty="0">
                          <a:solidFill>
                            <a:schemeClr val="tx1"/>
                          </a:solidFill>
                        </a:rPr>
                        <a:t>Which inputs are used</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All inputs, in every layer</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A learned subset per step, per deal</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3464">
                <a:tc>
                  <a:txBody>
                    <a:bodyPr/>
                    <a:lstStyle/>
                    <a:p>
                      <a:pPr marL="0" indent="0" algn="l">
                        <a:buNone/>
                      </a:pPr>
                      <a:r>
                        <a:rPr lang="en-US" sz="1200" dirty="0">
                          <a:solidFill>
                            <a:schemeClr val="tx1"/>
                          </a:solidFill>
                        </a:rPr>
                        <a:t>How it decides</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One dense, smooth function</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Sequential, tree-like feature selection</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464">
                <a:tc>
                  <a:txBody>
                    <a:bodyPr/>
                    <a:lstStyle/>
                    <a:p>
                      <a:pPr marL="0" indent="0" algn="l">
                        <a:buNone/>
                      </a:pPr>
                      <a:r>
                        <a:rPr lang="en-US" sz="1200" dirty="0">
                          <a:solidFill>
                            <a:schemeClr val="tx1"/>
                          </a:solidFill>
                        </a:rPr>
                        <a:t>Explanation</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Post-hoc only</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Attention masks built in</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83464">
                <a:tc>
                  <a:txBody>
                    <a:bodyPr/>
                    <a:lstStyle/>
                    <a:p>
                      <a:pPr marL="0" indent="0" algn="l">
                        <a:buNone/>
                      </a:pPr>
                      <a:r>
                        <a:rPr lang="en-US" sz="1200" dirty="0">
                          <a:solidFill>
                            <a:schemeClr val="tx1"/>
                          </a:solidFill>
                        </a:rPr>
                        <a:t>Hyperparameters</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Few (layers, width, decay)</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More (steps, widths, γ, sparsity, virtual batch)</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3464">
                <a:tc>
                  <a:txBody>
                    <a:bodyPr/>
                    <a:lstStyle/>
                    <a:p>
                      <a:pPr marL="0" indent="0" algn="l">
                        <a:buNone/>
                      </a:pPr>
                      <a:r>
                        <a:rPr lang="en-US" sz="1200" dirty="0">
                          <a:solidFill>
                            <a:schemeClr val="tx1"/>
                          </a:solidFill>
                        </a:rPr>
                        <a:t>Training cost</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Light</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Heavier: attention and several steps per update</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Why simulate? Original vs simulated data</a:t>
            </a:r>
            <a:endParaRPr lang="en-US" sz="3400" dirty="0"/>
          </a:p>
        </p:txBody>
      </p:sp>
      <p:sp>
        <p:nvSpPr>
          <p:cNvPr id="3" name="icon-bg-warn"/>
          <p:cNvSpPr/>
          <p:nvPr/>
        </p:nvSpPr>
        <p:spPr>
          <a:xfrm>
            <a:off x="548640" y="1417320"/>
            <a:ext cx="548640" cy="548640"/>
          </a:xfrm>
          <a:prstGeom prst="ellipse">
            <a:avLst/>
          </a:prstGeom>
          <a:solidFill>
            <a:schemeClr val="accent3"/>
          </a:solidFill>
          <a:ln/>
        </p:spPr>
        <p:txBody>
          <a:bodyPr/>
          <a:lstStyle/>
          <a:p>
            <a:endParaRPr/>
          </a:p>
        </p:txBody>
      </p:sp>
      <p:pic>
        <p:nvPicPr>
          <p:cNvPr id="4" name="icon-warn" descr="preencoded.png"/>
          <p:cNvPicPr>
            <a:picLocks noChangeAspect="1"/>
          </p:cNvPicPr>
          <p:nvPr/>
        </p:nvPicPr>
        <p:blipFill>
          <a:blip r:embed="rId3"/>
          <a:stretch>
            <a:fillRect/>
          </a:stretch>
        </p:blipFill>
        <p:spPr>
          <a:xfrm>
            <a:off x="685800" y="1554480"/>
            <a:ext cx="274320" cy="274320"/>
          </a:xfrm>
          <a:prstGeom prst="rect">
            <a:avLst/>
          </a:prstGeom>
        </p:spPr>
      </p:pic>
      <p:sp>
        <p:nvSpPr>
          <p:cNvPr id="5" name="Text 2"/>
          <p:cNvSpPr txBox="1"/>
          <p:nvPr/>
        </p:nvSpPr>
        <p:spPr>
          <a:xfrm>
            <a:off x="1280160" y="1463040"/>
            <a:ext cx="4587088" cy="457200"/>
          </a:xfrm>
          <a:prstGeom prst="rect">
            <a:avLst/>
          </a:prstGeom>
          <a:noFill/>
          <a:ln/>
        </p:spPr>
        <p:txBody>
          <a:bodyPr wrap="square" lIns="0" tIns="0" rIns="0" bIns="0" rtlCol="0" anchor="ctr"/>
          <a:lstStyle/>
          <a:p>
            <a:pPr marL="0" indent="0">
              <a:buNone/>
            </a:pPr>
            <a:r>
              <a:rPr lang="en-US" sz="2000" b="1" dirty="0">
                <a:solidFill>
                  <a:schemeClr val="tx2"/>
                </a:solidFill>
              </a:rPr>
              <a:t>Original data: little to learn from</a:t>
            </a:r>
            <a:endParaRPr lang="en-US" sz="2000" dirty="0"/>
          </a:p>
        </p:txBody>
      </p:sp>
      <p:sp>
        <p:nvSpPr>
          <p:cNvPr id="6" name="Text 3"/>
          <p:cNvSpPr txBox="1"/>
          <p:nvPr/>
        </p:nvSpPr>
        <p:spPr>
          <a:xfrm>
            <a:off x="548640" y="2011680"/>
            <a:ext cx="5318608" cy="2103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Win rate barely changes across groups (products 0.60–0.65)</a:t>
            </a:r>
            <a:endParaRPr lang="en-US" sz="1500" dirty="0"/>
          </a:p>
          <a:p>
            <a:pPr marL="203200" indent="-203200">
              <a:spcAft>
                <a:spcPts val="800"/>
              </a:spcAft>
              <a:buSzPct val="100000"/>
              <a:buChar char="•"/>
            </a:pPr>
            <a:r>
              <a:rPr lang="en-US" sz="1500" dirty="0">
                <a:solidFill>
                  <a:schemeClr val="tx1"/>
                </a:solidFill>
              </a:rPr>
              <a:t>No deal-level signals: no discount, contacts, budget or competitor</a:t>
            </a:r>
            <a:endParaRPr lang="en-US" sz="1500" dirty="0"/>
          </a:p>
          <a:p>
            <a:pPr marL="203200" indent="-203200">
              <a:spcAft>
                <a:spcPts val="800"/>
              </a:spcAft>
              <a:buSzPct val="100000"/>
              <a:buChar char="•"/>
            </a:pPr>
            <a:r>
              <a:rPr lang="en-US" sz="1500" dirty="0">
                <a:solidFill>
                  <a:schemeClr val="tx1"/>
                </a:solidFill>
              </a:rPr>
              <a:t>Only 2,975 training deals after the time-based split</a:t>
            </a:r>
            <a:endParaRPr lang="en-US" sz="1500" dirty="0"/>
          </a:p>
          <a:p>
            <a:pPr marL="203200" indent="-203200">
              <a:spcAft>
                <a:spcPts val="800"/>
              </a:spcAft>
              <a:buSzPct val="100000"/>
              <a:buChar char="•"/>
            </a:pPr>
            <a:r>
              <a:rPr lang="en-US" sz="1500" dirty="0">
                <a:solidFill>
                  <a:schemeClr val="tx1"/>
                </a:solidFill>
              </a:rPr>
              <a:t>68% of open deals have no account; no closed deal is missing one</a:t>
            </a:r>
            <a:endParaRPr lang="en-US" sz="1500" dirty="0"/>
          </a:p>
        </p:txBody>
      </p:sp>
      <p:sp>
        <p:nvSpPr>
          <p:cNvPr id="7" name="icon-bg-search"/>
          <p:cNvSpPr/>
          <p:nvPr/>
        </p:nvSpPr>
        <p:spPr>
          <a:xfrm>
            <a:off x="6324448" y="1417320"/>
            <a:ext cx="548640" cy="548640"/>
          </a:xfrm>
          <a:prstGeom prst="ellipse">
            <a:avLst/>
          </a:prstGeom>
          <a:solidFill>
            <a:schemeClr val="accent1"/>
          </a:solidFill>
          <a:ln/>
        </p:spPr>
        <p:txBody>
          <a:bodyPr/>
          <a:lstStyle/>
          <a:p>
            <a:endParaRPr/>
          </a:p>
        </p:txBody>
      </p:sp>
      <p:pic>
        <p:nvPicPr>
          <p:cNvPr id="8" name="icon-search" descr="preencoded.png"/>
          <p:cNvPicPr>
            <a:picLocks noChangeAspect="1"/>
          </p:cNvPicPr>
          <p:nvPr/>
        </p:nvPicPr>
        <p:blipFill>
          <a:blip r:embed="rId4"/>
          <a:stretch>
            <a:fillRect/>
          </a:stretch>
        </p:blipFill>
        <p:spPr>
          <a:xfrm>
            <a:off x="6461608" y="1554480"/>
            <a:ext cx="274320" cy="274320"/>
          </a:xfrm>
          <a:prstGeom prst="rect">
            <a:avLst/>
          </a:prstGeom>
        </p:spPr>
      </p:pic>
      <p:sp>
        <p:nvSpPr>
          <p:cNvPr id="9" name="Text 5"/>
          <p:cNvSpPr txBox="1"/>
          <p:nvPr/>
        </p:nvSpPr>
        <p:spPr>
          <a:xfrm>
            <a:off x="7055968" y="1463040"/>
            <a:ext cx="4587088" cy="457200"/>
          </a:xfrm>
          <a:prstGeom prst="rect">
            <a:avLst/>
          </a:prstGeom>
          <a:noFill/>
          <a:ln/>
        </p:spPr>
        <p:txBody>
          <a:bodyPr wrap="square" lIns="0" tIns="0" rIns="0" bIns="0" rtlCol="0" anchor="ctr"/>
          <a:lstStyle/>
          <a:p>
            <a:pPr marL="0" indent="0">
              <a:buNone/>
            </a:pPr>
            <a:r>
              <a:rPr lang="en-US" sz="2000" b="1" dirty="0">
                <a:solidFill>
                  <a:schemeClr val="tx2"/>
                </a:solidFill>
              </a:rPr>
              <a:t>Simulated data: signal we control</a:t>
            </a:r>
            <a:endParaRPr lang="en-US" sz="2000" dirty="0"/>
          </a:p>
        </p:txBody>
      </p:sp>
      <p:sp>
        <p:nvSpPr>
          <p:cNvPr id="10" name="Text 6"/>
          <p:cNvSpPr txBox="1"/>
          <p:nvPr/>
        </p:nvSpPr>
        <p:spPr>
          <a:xfrm>
            <a:off x="6324448" y="2011680"/>
            <a:ext cx="5318608" cy="2103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A planted win formula, so the true win probability is known (oracle)</a:t>
            </a:r>
            <a:endParaRPr lang="en-US" sz="1500" dirty="0"/>
          </a:p>
          <a:p>
            <a:pPr marL="203200" indent="-203200">
              <a:spcAft>
                <a:spcPts val="800"/>
              </a:spcAft>
              <a:buSzPct val="100000"/>
              <a:buChar char="•"/>
            </a:pPr>
            <a:r>
              <a:rPr lang="en-US" sz="1500" dirty="0">
                <a:solidFill>
                  <a:schemeClr val="tx1"/>
                </a:solidFill>
              </a:rPr>
              <a:t>Deal-level features: sector matches, industry trends, competitors</a:t>
            </a:r>
            <a:endParaRPr lang="en-US" sz="1500" dirty="0"/>
          </a:p>
          <a:p>
            <a:pPr marL="203200" indent="-203200">
              <a:spcAft>
                <a:spcPts val="800"/>
              </a:spcAft>
              <a:buSzPct val="100000"/>
              <a:buChar char="•"/>
            </a:pPr>
            <a:r>
              <a:rPr lang="en-US" sz="1500" dirty="0">
                <a:solidFill>
                  <a:schemeClr val="tx1"/>
                </a:solidFill>
              </a:rPr>
              <a:t>100,000 deals, same format, same 85 accounts and dates</a:t>
            </a:r>
            <a:endParaRPr lang="en-US" sz="1500" dirty="0"/>
          </a:p>
          <a:p>
            <a:pPr marL="203200" indent="-203200">
              <a:spcAft>
                <a:spcPts val="800"/>
              </a:spcAft>
              <a:buSzPct val="100000"/>
              <a:buChar char="•"/>
            </a:pPr>
            <a:r>
              <a:rPr lang="en-US" sz="1500" dirty="0">
                <a:solidFill>
                  <a:schemeClr val="tx1"/>
                </a:solidFill>
              </a:rPr>
              <a:t>Signal strength and interaction type can be adjusted</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graphicFrame>
        <p:nvGraphicFramePr>
          <p:cNvPr id="26" name="metrics-table"/>
          <p:cNvGraphicFramePr>
            <a:graphicFrameLocks noGrp="1"/>
          </p:cNvGraphicFramePr>
          <p:nvPr>
            <p:extLst>
              <p:ext uri="{D42A27DB-BD31-4B8C-83A1-F6EECF244321}">
                <p14:modId xmlns:p14="http://schemas.microsoft.com/office/powerpoint/2010/main" val="1579011935"/>
              </p:ext>
            </p:extLst>
          </p:nvPr>
        </p:nvGraphicFramePr>
        <p:xfrm>
          <a:off x="548640" y="4251960"/>
          <a:ext cx="11091672" cy="1737360"/>
        </p:xfrm>
        <a:graphic>
          <a:graphicData uri="http://schemas.openxmlformats.org/drawingml/2006/table">
            <a:tbl>
              <a:tblPr/>
              <a:tblGrid>
                <a:gridCol w="4142232">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347472">
                <a:tc>
                  <a:txBody>
                    <a:bodyPr/>
                    <a:lstStyle/>
                    <a:p>
                      <a:pPr marL="0" indent="0" algn="l">
                        <a:buNone/>
                      </a:pP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marL="0" indent="0" algn="l">
                        <a:buNone/>
                      </a:pPr>
                      <a:r>
                        <a:rPr lang="en-US" sz="1400" b="1" dirty="0">
                          <a:solidFill>
                            <a:schemeClr val="bg1"/>
                          </a:solidFill>
                        </a:rPr>
                        <a:t>Original</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marL="0" indent="0" algn="l">
                        <a:buNone/>
                      </a:pPr>
                      <a:r>
                        <a:rPr lang="en-US" sz="1400" b="1" dirty="0">
                          <a:solidFill>
                            <a:schemeClr val="bg1"/>
                          </a:solidFill>
                        </a:rPr>
                        <a:t>Simulated</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47472">
                <a:tc>
                  <a:txBody>
                    <a:bodyPr/>
                    <a:lstStyle/>
                    <a:p>
                      <a:pPr marL="0" indent="0" algn="l">
                        <a:buNone/>
                      </a:pPr>
                      <a:r>
                        <a:rPr lang="en-US" sz="1400" dirty="0">
                          <a:solidFill>
                            <a:schemeClr val="tx1"/>
                          </a:solidFill>
                        </a:rPr>
                        <a:t>Win rate across products</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0.60 – 0.65</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0.27 – 0.93</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47472">
                <a:tc>
                  <a:txBody>
                    <a:bodyPr/>
                    <a:lstStyle/>
                    <a:p>
                      <a:pPr marL="0" indent="0" algn="l">
                        <a:buNone/>
                      </a:pPr>
                      <a:r>
                        <a:rPr lang="en-US" sz="1400" dirty="0">
                          <a:solidFill>
                            <a:schemeClr val="tx1"/>
                          </a:solidFill>
                        </a:rPr>
                        <a:t>Best single-feature AUC</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0.56</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0.76</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47472">
                <a:tc>
                  <a:txBody>
                    <a:bodyPr/>
                    <a:lstStyle/>
                    <a:p>
                      <a:pPr marL="0" indent="0" algn="l">
                        <a:buNone/>
                      </a:pPr>
                      <a:r>
                        <a:rPr lang="en-US" sz="1400" dirty="0">
                          <a:solidFill>
                            <a:schemeClr val="tx1"/>
                          </a:solidFill>
                        </a:rPr>
                        <a:t>Closed deals</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6,711</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71,463</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47472">
                <a:tc>
                  <a:txBody>
                    <a:bodyPr/>
                    <a:lstStyle/>
                    <a:p>
                      <a:pPr marL="0" indent="0" algn="l">
                        <a:buNone/>
                      </a:pPr>
                      <a:r>
                        <a:rPr lang="en-US" sz="1400" dirty="0">
                          <a:solidFill>
                            <a:schemeClr val="tx1"/>
                          </a:solidFill>
                        </a:rPr>
                        <a:t>Best possible AUC (oracle)</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unknown</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0.877</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94560"/>
            <a:ext cx="10515600" cy="1280160"/>
          </a:xfrm>
          <a:prstGeom prst="rect">
            <a:avLst/>
          </a:prstGeom>
          <a:noFill/>
          <a:ln/>
        </p:spPr>
        <p:txBody>
          <a:bodyPr wrap="square" lIns="0" tIns="0" rIns="0" bIns="0" rtlCol="0" anchor="b"/>
          <a:lstStyle/>
          <a:p>
            <a:pPr marL="0" indent="0" algn="l">
              <a:buNone/>
            </a:pPr>
            <a:r>
              <a:rPr lang="en-US" sz="4000" b="1" dirty="0">
                <a:solidFill>
                  <a:schemeClr val="bg1"/>
                </a:solidFill>
                <a:latin typeface="Cambria" pitchFamily="34" charset="0"/>
                <a:ea typeface="Cambria" pitchFamily="34" charset="-122"/>
                <a:cs typeface="Cambria" pitchFamily="34" charset="-120"/>
              </a:rPr>
              <a:t>Scenario B: does the pipeline learn when signal exists?</a:t>
            </a:r>
            <a:endParaRPr lang="en-US" sz="4000" dirty="0"/>
          </a:p>
        </p:txBody>
      </p:sp>
      <p:sp>
        <p:nvSpPr>
          <p:cNvPr id="3" name="Text 0"/>
          <p:cNvSpPr>
            <a:spLocks noGrp="1"/>
          </p:cNvSpPr>
          <p:nvPr>
            <p:ph type="body" idx="101" hasCustomPrompt="1"/>
          </p:nvPr>
        </p:nvSpPr>
        <p:spPr>
          <a:xfrm>
            <a:off x="548640" y="3657600"/>
            <a:ext cx="10515600" cy="1097280"/>
          </a:xfrm>
          <a:prstGeom prst="rect">
            <a:avLst/>
          </a:prstGeom>
          <a:noFill/>
          <a:ln/>
        </p:spPr>
        <p:txBody>
          <a:bodyPr wrap="square" lIns="0" tIns="0" rIns="0" bIns="0" rtlCol="0" anchor="t"/>
          <a:lstStyle/>
          <a:p>
            <a:pPr marL="0" indent="0">
              <a:buNone/>
            </a:pPr>
            <a:r>
              <a:rPr lang="en-US" sz="2000" dirty="0">
                <a:solidFill>
                  <a:schemeClr val="accent5"/>
                </a:solidFill>
              </a:rPr>
              <a:t>Same loader, split, preprocessing, threshold rule and metrics on 100,000 simulated deals</a:t>
            </a: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How we simulated 100,000 deals</a:t>
            </a:r>
            <a:endParaRPr lang="en-US" sz="3400" dirty="0"/>
          </a:p>
        </p:txBody>
      </p:sp>
      <p:sp>
        <p:nvSpPr>
          <p:cNvPr id="3" name="sim-col-0"/>
          <p:cNvSpPr/>
          <p:nvPr/>
        </p:nvSpPr>
        <p:spPr>
          <a:xfrm>
            <a:off x="548640" y="1417320"/>
            <a:ext cx="3429000" cy="2743200"/>
          </a:xfrm>
          <a:prstGeom prst="roundRect">
            <a:avLst>
              <a:gd name="adj" fmla="val 2667"/>
            </a:avLst>
          </a:prstGeom>
          <a:solidFill>
            <a:schemeClr val="bg2"/>
          </a:solidFill>
          <a:ln/>
        </p:spPr>
        <p:txBody>
          <a:bodyPr/>
          <a:lstStyle/>
          <a:p>
            <a:endParaRPr/>
          </a:p>
        </p:txBody>
      </p:sp>
      <p:sp>
        <p:nvSpPr>
          <p:cNvPr id="4" name="icon-bg-table"/>
          <p:cNvSpPr/>
          <p:nvPr/>
        </p:nvSpPr>
        <p:spPr>
          <a:xfrm>
            <a:off x="822960" y="1645920"/>
            <a:ext cx="594360" cy="594360"/>
          </a:xfrm>
          <a:prstGeom prst="ellipse">
            <a:avLst/>
          </a:prstGeom>
          <a:solidFill>
            <a:schemeClr val="accent1"/>
          </a:solidFill>
          <a:ln/>
        </p:spPr>
        <p:txBody>
          <a:bodyPr/>
          <a:lstStyle/>
          <a:p>
            <a:endParaRPr/>
          </a:p>
        </p:txBody>
      </p:sp>
      <p:pic>
        <p:nvPicPr>
          <p:cNvPr id="5" name="icon-table" descr="preencoded.png"/>
          <p:cNvPicPr>
            <a:picLocks noChangeAspect="1"/>
          </p:cNvPicPr>
          <p:nvPr/>
        </p:nvPicPr>
        <p:blipFill>
          <a:blip r:embed="rId3"/>
          <a:stretch>
            <a:fillRect/>
          </a:stretch>
        </p:blipFill>
        <p:spPr>
          <a:xfrm>
            <a:off x="971550" y="1794510"/>
            <a:ext cx="297180" cy="297180"/>
          </a:xfrm>
          <a:prstGeom prst="rect">
            <a:avLst/>
          </a:prstGeom>
        </p:spPr>
      </p:pic>
      <p:sp>
        <p:nvSpPr>
          <p:cNvPr id="6" name="Text 3"/>
          <p:cNvSpPr txBox="1"/>
          <p:nvPr/>
        </p:nvSpPr>
        <p:spPr>
          <a:xfrm>
            <a:off x="1554480" y="1719072"/>
            <a:ext cx="2240280" cy="457200"/>
          </a:xfrm>
          <a:prstGeom prst="rect">
            <a:avLst/>
          </a:prstGeom>
          <a:noFill/>
          <a:ln/>
        </p:spPr>
        <p:txBody>
          <a:bodyPr wrap="square" lIns="0" tIns="0" rIns="0" bIns="0" rtlCol="0" anchor="ctr"/>
          <a:lstStyle/>
          <a:p>
            <a:pPr marL="0" indent="0">
              <a:buNone/>
            </a:pPr>
            <a:r>
              <a:rPr lang="en-US" sz="1800" b="1" dirty="0">
                <a:solidFill>
                  <a:schemeClr val="tx2"/>
                </a:solidFill>
              </a:rPr>
              <a:t>Reused from real data</a:t>
            </a:r>
            <a:endParaRPr lang="en-US" sz="1800" dirty="0"/>
          </a:p>
        </p:txBody>
      </p:sp>
      <p:sp>
        <p:nvSpPr>
          <p:cNvPr id="7" name="Text 4"/>
          <p:cNvSpPr txBox="1"/>
          <p:nvPr/>
        </p:nvSpPr>
        <p:spPr>
          <a:xfrm>
            <a:off x="822960" y="2468880"/>
            <a:ext cx="2880360" cy="16002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85 accounts, 30 agents, 7 products</a:t>
            </a:r>
            <a:endParaRPr lang="en-US" sz="1500" dirty="0"/>
          </a:p>
          <a:p>
            <a:pPr marL="203200" indent="-203200">
              <a:spcAft>
                <a:spcPts val="800"/>
              </a:spcAft>
              <a:buSzPct val="100000"/>
              <a:buChar char="•"/>
            </a:pPr>
            <a:r>
              <a:rPr lang="en-US" sz="1600" dirty="0">
                <a:solidFill>
                  <a:schemeClr val="tx1"/>
                </a:solidFill>
              </a:rPr>
              <a:t>Date range and 63% win rate</a:t>
            </a:r>
            <a:endParaRPr lang="en-US" sz="1500" dirty="0"/>
          </a:p>
          <a:p>
            <a:pPr marL="203200" indent="-203200">
              <a:spcAft>
                <a:spcPts val="800"/>
              </a:spcAft>
              <a:buSzPct val="100000"/>
              <a:buChar char="•"/>
            </a:pPr>
            <a:r>
              <a:rPr lang="en-US" sz="1600" dirty="0">
                <a:solidFill>
                  <a:schemeClr val="tx1"/>
                </a:solidFill>
              </a:rPr>
              <a:t>Share of open and Prospecting deals</a:t>
            </a:r>
            <a:endParaRPr lang="en-US" sz="1500" dirty="0"/>
          </a:p>
        </p:txBody>
      </p:sp>
      <p:sp>
        <p:nvSpPr>
          <p:cNvPr id="8" name="sim-col-1"/>
          <p:cNvSpPr/>
          <p:nvPr/>
        </p:nvSpPr>
        <p:spPr>
          <a:xfrm>
            <a:off x="4381348" y="1417320"/>
            <a:ext cx="3429000" cy="2743200"/>
          </a:xfrm>
          <a:prstGeom prst="roundRect">
            <a:avLst>
              <a:gd name="adj" fmla="val 2667"/>
            </a:avLst>
          </a:prstGeom>
          <a:solidFill>
            <a:schemeClr val="bg2"/>
          </a:solidFill>
          <a:ln/>
        </p:spPr>
        <p:txBody>
          <a:bodyPr/>
          <a:lstStyle/>
          <a:p>
            <a:endParaRPr/>
          </a:p>
        </p:txBody>
      </p:sp>
      <p:sp>
        <p:nvSpPr>
          <p:cNvPr id="9" name="icon-bg-dice"/>
          <p:cNvSpPr/>
          <p:nvPr/>
        </p:nvSpPr>
        <p:spPr>
          <a:xfrm>
            <a:off x="4655668" y="1645920"/>
            <a:ext cx="594360" cy="594360"/>
          </a:xfrm>
          <a:prstGeom prst="ellipse">
            <a:avLst/>
          </a:prstGeom>
          <a:solidFill>
            <a:schemeClr val="accent2"/>
          </a:solidFill>
          <a:ln/>
        </p:spPr>
        <p:txBody>
          <a:bodyPr/>
          <a:lstStyle/>
          <a:p>
            <a:endParaRPr/>
          </a:p>
        </p:txBody>
      </p:sp>
      <p:pic>
        <p:nvPicPr>
          <p:cNvPr id="10" name="icon-dice" descr="preencoded.png"/>
          <p:cNvPicPr>
            <a:picLocks noChangeAspect="1"/>
          </p:cNvPicPr>
          <p:nvPr/>
        </p:nvPicPr>
        <p:blipFill>
          <a:blip r:embed="rId4"/>
          <a:stretch>
            <a:fillRect/>
          </a:stretch>
        </p:blipFill>
        <p:spPr>
          <a:xfrm>
            <a:off x="4804258" y="1794510"/>
            <a:ext cx="297180" cy="297180"/>
          </a:xfrm>
          <a:prstGeom prst="rect">
            <a:avLst/>
          </a:prstGeom>
        </p:spPr>
      </p:pic>
      <p:sp>
        <p:nvSpPr>
          <p:cNvPr id="11" name="Text 7"/>
          <p:cNvSpPr txBox="1"/>
          <p:nvPr/>
        </p:nvSpPr>
        <p:spPr>
          <a:xfrm>
            <a:off x="5387188" y="1719072"/>
            <a:ext cx="2240280" cy="457200"/>
          </a:xfrm>
          <a:prstGeom prst="rect">
            <a:avLst/>
          </a:prstGeom>
          <a:noFill/>
          <a:ln/>
        </p:spPr>
        <p:txBody>
          <a:bodyPr wrap="square" lIns="0" tIns="0" rIns="0" bIns="0" rtlCol="0" anchor="ctr"/>
          <a:lstStyle/>
          <a:p>
            <a:pPr marL="0" indent="0">
              <a:buNone/>
            </a:pPr>
            <a:r>
              <a:rPr lang="en-US" sz="1800" b="1" dirty="0">
                <a:solidFill>
                  <a:schemeClr val="tx2"/>
                </a:solidFill>
              </a:rPr>
              <a:t>Added by the team</a:t>
            </a:r>
            <a:endParaRPr lang="en-US" sz="1800" dirty="0"/>
          </a:p>
        </p:txBody>
      </p:sp>
      <p:sp>
        <p:nvSpPr>
          <p:cNvPr id="12" name="Text 8"/>
          <p:cNvSpPr txBox="1"/>
          <p:nvPr/>
        </p:nvSpPr>
        <p:spPr>
          <a:xfrm>
            <a:off x="4655668" y="2468880"/>
            <a:ext cx="2880360" cy="16002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9 new products, new GTS series</a:t>
            </a:r>
            <a:endParaRPr lang="en-US" sz="1500" dirty="0"/>
          </a:p>
          <a:p>
            <a:pPr marL="203200" indent="-203200">
              <a:spcAft>
                <a:spcPts val="800"/>
              </a:spcAft>
              <a:buSzPct val="100000"/>
              <a:buChar char="•"/>
            </a:pPr>
            <a:r>
              <a:rPr lang="en-US" sz="1600" dirty="0">
                <a:solidFill>
                  <a:schemeClr val="tx1"/>
                </a:solidFill>
              </a:rPr>
              <a:t>Competitor products</a:t>
            </a:r>
            <a:endParaRPr lang="en-US" sz="1500" dirty="0"/>
          </a:p>
          <a:p>
            <a:pPr marL="203200" indent="-203200">
              <a:spcAft>
                <a:spcPts val="800"/>
              </a:spcAft>
              <a:buSzPct val="100000"/>
              <a:buChar char="•"/>
            </a:pPr>
            <a:r>
              <a:rPr lang="en-US" sz="1600" dirty="0">
                <a:solidFill>
                  <a:schemeClr val="tx1"/>
                </a:solidFill>
              </a:rPr>
              <a:t>5-year industry trends</a:t>
            </a:r>
            <a:endParaRPr lang="en-US" sz="1500" dirty="0"/>
          </a:p>
        </p:txBody>
      </p:sp>
      <p:sp>
        <p:nvSpPr>
          <p:cNvPr id="13" name="sim-col-2"/>
          <p:cNvSpPr/>
          <p:nvPr/>
        </p:nvSpPr>
        <p:spPr>
          <a:xfrm>
            <a:off x="8214055" y="1417320"/>
            <a:ext cx="3429000" cy="2743200"/>
          </a:xfrm>
          <a:prstGeom prst="roundRect">
            <a:avLst>
              <a:gd name="adj" fmla="val 2667"/>
            </a:avLst>
          </a:prstGeom>
          <a:solidFill>
            <a:schemeClr val="bg2"/>
          </a:solidFill>
          <a:ln/>
        </p:spPr>
        <p:txBody>
          <a:bodyPr/>
          <a:lstStyle/>
          <a:p>
            <a:endParaRPr/>
          </a:p>
        </p:txBody>
      </p:sp>
      <p:sp>
        <p:nvSpPr>
          <p:cNvPr id="14" name="icon-bg-flask"/>
          <p:cNvSpPr/>
          <p:nvPr/>
        </p:nvSpPr>
        <p:spPr>
          <a:xfrm>
            <a:off x="8488375" y="1645920"/>
            <a:ext cx="594360" cy="594360"/>
          </a:xfrm>
          <a:prstGeom prst="ellipse">
            <a:avLst/>
          </a:prstGeom>
          <a:solidFill>
            <a:schemeClr val="tx2"/>
          </a:solidFill>
          <a:ln/>
        </p:spPr>
        <p:txBody>
          <a:bodyPr/>
          <a:lstStyle/>
          <a:p>
            <a:endParaRPr/>
          </a:p>
        </p:txBody>
      </p:sp>
      <p:pic>
        <p:nvPicPr>
          <p:cNvPr id="15" name="icon-flask" descr="preencoded.png"/>
          <p:cNvPicPr>
            <a:picLocks noChangeAspect="1"/>
          </p:cNvPicPr>
          <p:nvPr/>
        </p:nvPicPr>
        <p:blipFill>
          <a:blip r:embed="rId5"/>
          <a:stretch>
            <a:fillRect/>
          </a:stretch>
        </p:blipFill>
        <p:spPr>
          <a:xfrm>
            <a:off x="8636965" y="1794510"/>
            <a:ext cx="297180" cy="297180"/>
          </a:xfrm>
          <a:prstGeom prst="rect">
            <a:avLst/>
          </a:prstGeom>
        </p:spPr>
      </p:pic>
      <p:sp>
        <p:nvSpPr>
          <p:cNvPr id="16" name="Text 11"/>
          <p:cNvSpPr txBox="1"/>
          <p:nvPr/>
        </p:nvSpPr>
        <p:spPr>
          <a:xfrm>
            <a:off x="9219895" y="1719072"/>
            <a:ext cx="2240280" cy="457200"/>
          </a:xfrm>
          <a:prstGeom prst="rect">
            <a:avLst/>
          </a:prstGeom>
          <a:noFill/>
          <a:ln/>
        </p:spPr>
        <p:txBody>
          <a:bodyPr wrap="square" lIns="0" tIns="0" rIns="0" bIns="0" rtlCol="0" anchor="ctr"/>
          <a:lstStyle/>
          <a:p>
            <a:pPr marL="0" indent="0">
              <a:buNone/>
            </a:pPr>
            <a:r>
              <a:rPr lang="en-US" sz="1800" b="1" dirty="0">
                <a:solidFill>
                  <a:schemeClr val="tx2"/>
                </a:solidFill>
              </a:rPr>
              <a:t>Planted win formula</a:t>
            </a:r>
            <a:endParaRPr lang="en-US" sz="1800" dirty="0"/>
          </a:p>
        </p:txBody>
      </p:sp>
      <p:sp>
        <p:nvSpPr>
          <p:cNvPr id="17" name="Text 12"/>
          <p:cNvSpPr txBox="1"/>
          <p:nvPr/>
        </p:nvSpPr>
        <p:spPr>
          <a:xfrm>
            <a:off x="8488375" y="2468880"/>
            <a:ext cx="2880360" cy="16002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Known logistic model</a:t>
            </a:r>
            <a:endParaRPr lang="en-US" sz="1500" dirty="0"/>
          </a:p>
          <a:p>
            <a:pPr marL="203200" indent="-203200">
              <a:spcAft>
                <a:spcPts val="800"/>
              </a:spcAft>
              <a:buSzPct val="100000"/>
              <a:buChar char="•"/>
            </a:pPr>
            <a:r>
              <a:rPr lang="en-US" sz="1600" dirty="0">
                <a:solidFill>
                  <a:schemeClr val="tx1"/>
                </a:solidFill>
              </a:rPr>
              <a:t>3 interactions, e.g. expensive product × small account</a:t>
            </a:r>
            <a:endParaRPr lang="en-US" sz="1500" dirty="0"/>
          </a:p>
          <a:p>
            <a:pPr marL="203200" indent="-203200">
              <a:spcAft>
                <a:spcPts val="800"/>
              </a:spcAft>
              <a:buSzPct val="100000"/>
              <a:buChar char="•"/>
            </a:pPr>
            <a:r>
              <a:rPr lang="en-US" sz="1600" dirty="0">
                <a:solidFill>
                  <a:schemeClr val="tx1"/>
                </a:solidFill>
              </a:rPr>
              <a:t>Strength k = 3</a:t>
            </a:r>
            <a:endParaRPr lang="en-US" sz="1500" dirty="0"/>
          </a:p>
        </p:txBody>
      </p:sp>
      <p:sp>
        <p:nvSpPr>
          <p:cNvPr id="18" name="oracle-frame"/>
          <p:cNvSpPr/>
          <p:nvPr/>
        </p:nvSpPr>
        <p:spPr>
          <a:xfrm>
            <a:off x="548640" y="4526280"/>
            <a:ext cx="11094415" cy="1280160"/>
          </a:xfrm>
          <a:prstGeom prst="roundRect">
            <a:avLst>
              <a:gd name="adj" fmla="val 5714"/>
            </a:avLst>
          </a:prstGeom>
          <a:solidFill>
            <a:schemeClr val="bg1"/>
          </a:solidFill>
          <a:ln/>
        </p:spPr>
        <p:txBody>
          <a:bodyPr/>
          <a:lstStyle/>
          <a:p>
            <a:endParaRPr/>
          </a:p>
        </p:txBody>
      </p:sp>
      <p:sp>
        <p:nvSpPr>
          <p:cNvPr id="19" name="icon-bg-bullseye"/>
          <p:cNvSpPr/>
          <p:nvPr/>
        </p:nvSpPr>
        <p:spPr>
          <a:xfrm>
            <a:off x="548640" y="4846320"/>
            <a:ext cx="594360" cy="594360"/>
          </a:xfrm>
          <a:prstGeom prst="ellipse">
            <a:avLst/>
          </a:prstGeom>
          <a:solidFill>
            <a:schemeClr val="accent3"/>
          </a:solidFill>
          <a:ln/>
        </p:spPr>
        <p:txBody>
          <a:bodyPr/>
          <a:lstStyle/>
          <a:p>
            <a:endParaRPr/>
          </a:p>
        </p:txBody>
      </p:sp>
      <p:pic>
        <p:nvPicPr>
          <p:cNvPr id="20" name="icon-bullseye" descr="preencoded.png"/>
          <p:cNvPicPr>
            <a:picLocks noChangeAspect="1"/>
          </p:cNvPicPr>
          <p:nvPr/>
        </p:nvPicPr>
        <p:blipFill>
          <a:blip r:embed="rId6"/>
          <a:stretch>
            <a:fillRect/>
          </a:stretch>
        </p:blipFill>
        <p:spPr>
          <a:xfrm>
            <a:off x="697230" y="4994910"/>
            <a:ext cx="297180" cy="297180"/>
          </a:xfrm>
          <a:prstGeom prst="rect">
            <a:avLst/>
          </a:prstGeom>
        </p:spPr>
      </p:pic>
      <p:sp>
        <p:nvSpPr>
          <p:cNvPr id="21" name="Text 15"/>
          <p:cNvSpPr txBox="1"/>
          <p:nvPr/>
        </p:nvSpPr>
        <p:spPr>
          <a:xfrm>
            <a:off x="1325880" y="4773168"/>
            <a:ext cx="10317175" cy="731520"/>
          </a:xfrm>
          <a:prstGeom prst="rect">
            <a:avLst/>
          </a:prstGeom>
          <a:noFill/>
          <a:ln/>
        </p:spPr>
        <p:txBody>
          <a:bodyPr wrap="square" lIns="0" tIns="0" rIns="0" bIns="0" rtlCol="0" anchor="ctr"/>
          <a:lstStyle/>
          <a:p>
            <a:pPr marL="0" indent="0">
              <a:buNone/>
            </a:pPr>
            <a:r>
              <a:rPr lang="en-US" sz="1700" b="1" dirty="0">
                <a:solidFill>
                  <a:schemeClr val="tx2"/>
                </a:solidFill>
              </a:rPr>
              <a:t>We know every deal's true win probability. </a:t>
            </a:r>
            <a:r>
              <a:rPr lang="en-US" sz="1700" dirty="0">
                <a:solidFill>
                  <a:schemeClr val="tx1"/>
                </a:solidFill>
              </a:rPr>
              <a:t>Scoring with it gives the oracle: the best ROC-AUC any model can reach. It is never used as a feature.</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94560"/>
            <a:ext cx="10515600" cy="1280160"/>
          </a:xfrm>
          <a:prstGeom prst="rect">
            <a:avLst/>
          </a:prstGeom>
          <a:noFill/>
          <a:ln/>
        </p:spPr>
        <p:txBody>
          <a:bodyPr wrap="square" lIns="0" tIns="0" rIns="0" bIns="0" rtlCol="0" anchor="b"/>
          <a:lstStyle/>
          <a:p>
            <a:pPr marL="0" indent="0" algn="l">
              <a:buNone/>
            </a:pPr>
            <a:r>
              <a:rPr lang="en-US" sz="6000" b="1" dirty="0">
                <a:solidFill>
                  <a:schemeClr val="bg1"/>
                </a:solidFill>
                <a:latin typeface="Cambria" pitchFamily="34" charset="0"/>
                <a:ea typeface="Cambria" pitchFamily="34" charset="-122"/>
                <a:cs typeface="Cambria" pitchFamily="34" charset="-120"/>
              </a:rPr>
              <a:t>Demo</a:t>
            </a:r>
            <a:endParaRPr lang="en-US" sz="4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Result A: no model beats chance</a:t>
            </a:r>
            <a:endParaRPr lang="en-US" sz="3400" dirty="0"/>
          </a:p>
        </p:txBody>
      </p:sp>
      <p:graphicFrame>
        <p:nvGraphicFramePr>
          <p:cNvPr id="9" name="metrics-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2468880"/>
        </p:xfrm>
        <a:graphic>
          <a:graphicData uri="http://schemas.openxmlformats.org/drawingml/2006/table">
            <a:tbl>
              <a:tblPr/>
              <a:tblGrid>
                <a:gridCol w="3044952">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gridCol w="1417320">
                  <a:extLst>
                    <a:ext uri="{9D8B030D-6E8A-4147-A177-3AD203B41FA5}">
                      <a16:colId xmlns:a16="http://schemas.microsoft.com/office/drawing/2014/main" val="20006"/>
                    </a:ext>
                  </a:extLst>
                </a:gridCol>
              </a:tblGrid>
              <a:tr h="411480">
                <a:tc>
                  <a:txBody>
                    <a:bodyPr/>
                    <a:lstStyle/>
                    <a:p>
                      <a:pPr marL="0" indent="0" algn="l">
                        <a:buNone/>
                      </a:pPr>
                      <a:r>
                        <a:rPr lang="en-US" sz="1400" b="1" dirty="0">
                          <a:solidFill>
                            <a:schemeClr val="bg1"/>
                          </a:solidFill>
                        </a:rPr>
                        <a:t>Model</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marL="0" indent="0" algn="r">
                        <a:buNone/>
                      </a:pPr>
                      <a:r>
                        <a:rPr lang="en-US" sz="1400" b="1" dirty="0">
                          <a:solidFill>
                            <a:schemeClr val="bg1"/>
                          </a:solidFill>
                        </a:rPr>
                        <a:t>Accuracy</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marL="0" indent="0" algn="r">
                        <a:buNone/>
                      </a:pPr>
                      <a:r>
                        <a:rPr lang="en-US" sz="1400" b="1" dirty="0">
                          <a:solidFill>
                            <a:schemeClr val="bg1"/>
                          </a:solidFill>
                        </a:rPr>
                        <a:t>Precision</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marL="0" indent="0" algn="r">
                        <a:buNone/>
                      </a:pPr>
                      <a:r>
                        <a:rPr lang="en-US" sz="1400" b="1" dirty="0">
                          <a:solidFill>
                            <a:schemeClr val="bg1"/>
                          </a:solidFill>
                        </a:rPr>
                        <a:t>Recall</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marL="0" indent="0" algn="r">
                        <a:buNone/>
                      </a:pPr>
                      <a:r>
                        <a:rPr lang="en-US" sz="1400" b="1" dirty="0">
                          <a:solidFill>
                            <a:schemeClr val="bg1"/>
                          </a:solidFill>
                        </a:rPr>
                        <a:t>F1 (Won)</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marL="0" indent="0" algn="r">
                        <a:buNone/>
                      </a:pPr>
                      <a:r>
                        <a:rPr lang="en-US" sz="1400" b="1" dirty="0">
                          <a:solidFill>
                            <a:schemeClr val="bg1"/>
                          </a:solidFill>
                        </a:rPr>
                        <a:t>ROC-AUC</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marL="0" indent="0" algn="r">
                        <a:buNone/>
                      </a:pPr>
                      <a:r>
                        <a:rPr lang="en-US" sz="1400" b="1" dirty="0">
                          <a:solidFill>
                            <a:schemeClr val="bg1"/>
                          </a:solidFill>
                        </a:rPr>
                        <a:t>Brier</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1480">
                <a:tc>
                  <a:txBody>
                    <a:bodyPr/>
                    <a:lstStyle/>
                    <a:p>
                      <a:pPr marL="0" indent="0" algn="l">
                        <a:buNone/>
                      </a:pPr>
                      <a:r>
                        <a:rPr lang="en-US" sz="1400" dirty="0">
                          <a:solidFill>
                            <a:schemeClr val="tx1"/>
                          </a:solidFill>
                        </a:rPr>
                        <a:t>Dummy prior</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0.600</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0.600</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1.000</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0.750</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0.500</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0.2421</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1480">
                <a:tc>
                  <a:txBody>
                    <a:bodyPr/>
                    <a:lstStyle/>
                    <a:p>
                      <a:pPr marL="0" indent="0" algn="l">
                        <a:buNone/>
                      </a:pPr>
                      <a:r>
                        <a:rPr lang="en-US" sz="1400" b="1" dirty="0">
                          <a:solidFill>
                            <a:schemeClr val="tx1"/>
                          </a:solidFill>
                        </a:rPr>
                        <a:t>Logistic Regression (selected)</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tx1"/>
                          </a:solidFill>
                        </a:rPr>
                        <a:t>0.437</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tx1"/>
                          </a:solidFill>
                        </a:rPr>
                        <a:t>0.615</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tx1"/>
                          </a:solidFill>
                        </a:rPr>
                        <a:t>0.166</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tx1"/>
                          </a:solidFill>
                        </a:rPr>
                        <a:t>0.262</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tx1"/>
                          </a:solidFill>
                        </a:rPr>
                        <a:t>0.524</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tx1"/>
                          </a:solidFill>
                        </a:rPr>
                        <a:t>0.2794</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11480">
                <a:tc>
                  <a:txBody>
                    <a:bodyPr/>
                    <a:lstStyle/>
                    <a:p>
                      <a:pPr marL="0" indent="0" algn="l">
                        <a:buNone/>
                      </a:pPr>
                      <a:r>
                        <a:rPr lang="en-US" sz="1400" dirty="0">
                          <a:solidFill>
                            <a:schemeClr val="tx1"/>
                          </a:solidFill>
                        </a:rPr>
                        <a:t>Random Forest</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0.592</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0.598</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0.978</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0.742</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0.518</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0.2510</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indent="0" algn="l">
                        <a:buNone/>
                      </a:pPr>
                      <a:r>
                        <a:rPr lang="en-US" sz="1400" dirty="0">
                          <a:solidFill>
                            <a:schemeClr val="tx1"/>
                          </a:solidFill>
                        </a:rPr>
                        <a:t>MLP</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0.485</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0.593</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0.453</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0.514</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0.495</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0.3314</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pPr marL="0" indent="0" algn="l">
                        <a:buNone/>
                      </a:pPr>
                      <a:r>
                        <a:rPr lang="en-US" sz="1400" dirty="0">
                          <a:solidFill>
                            <a:schemeClr val="tx1"/>
                          </a:solidFill>
                        </a:rPr>
                        <a:t>TabNet</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0.536</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0.600</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0.678</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0.637</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0.507</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0.2490</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4160520"/>
            <a:ext cx="3291840" cy="731520"/>
          </a:xfrm>
          <a:prstGeom prst="rect">
            <a:avLst/>
          </a:prstGeom>
          <a:noFill/>
          <a:ln/>
        </p:spPr>
        <p:txBody>
          <a:bodyPr wrap="square" lIns="0" tIns="0" rIns="0" bIns="0" rtlCol="0" anchor="b"/>
          <a:lstStyle/>
          <a:p>
            <a:pPr marL="0" indent="0">
              <a:buNone/>
            </a:pPr>
            <a:r>
              <a:rPr lang="en-US" sz="4000" b="1" dirty="0">
                <a:solidFill>
                  <a:schemeClr val="accent3"/>
                </a:solidFill>
                <a:latin typeface="Cambria" pitchFamily="34" charset="0"/>
                <a:ea typeface="Cambria" pitchFamily="34" charset="-122"/>
                <a:cs typeface="Cambria" pitchFamily="34" charset="-120"/>
              </a:rPr>
              <a:t>0.524</a:t>
            </a:r>
            <a:endParaRPr lang="en-US" sz="4000" dirty="0"/>
          </a:p>
        </p:txBody>
      </p:sp>
      <p:sp>
        <p:nvSpPr>
          <p:cNvPr id="5" name="Text 2"/>
          <p:cNvSpPr txBox="1"/>
          <p:nvPr/>
        </p:nvSpPr>
        <p:spPr>
          <a:xfrm>
            <a:off x="548640" y="4937760"/>
            <a:ext cx="3291840" cy="1097280"/>
          </a:xfrm>
          <a:prstGeom prst="rect">
            <a:avLst/>
          </a:prstGeom>
          <a:noFill/>
          <a:ln/>
        </p:spPr>
        <p:txBody>
          <a:bodyPr wrap="square" lIns="0" tIns="0" rIns="0" bIns="0" rtlCol="0" anchor="t"/>
          <a:lstStyle/>
          <a:p>
            <a:pPr marL="0" indent="0">
              <a:buNone/>
            </a:pPr>
            <a:r>
              <a:rPr lang="en-US" sz="1300" dirty="0">
                <a:solidFill>
                  <a:schemeClr val="accent4"/>
                </a:solidFill>
              </a:rPr>
              <a:t>test ROC-AUC of the selected model; all learned models land between 0.495 and 0.524 (0.5 = random ranking)</a:t>
            </a:r>
            <a:endParaRPr lang="en-US" sz="1300" dirty="0"/>
          </a:p>
        </p:txBody>
      </p:sp>
      <p:sp>
        <p:nvSpPr>
          <p:cNvPr id="7" name="Text 4"/>
          <p:cNvSpPr txBox="1"/>
          <p:nvPr/>
        </p:nvSpPr>
        <p:spPr>
          <a:xfrm>
            <a:off x="4160520" y="4160520"/>
            <a:ext cx="2834640" cy="73152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60%</a:t>
            </a:r>
            <a:endParaRPr lang="en-US" sz="4000" dirty="0"/>
          </a:p>
        </p:txBody>
      </p:sp>
      <p:sp>
        <p:nvSpPr>
          <p:cNvPr id="8" name="Text 5"/>
          <p:cNvSpPr txBox="1"/>
          <p:nvPr/>
        </p:nvSpPr>
        <p:spPr>
          <a:xfrm>
            <a:off x="4160520" y="4937760"/>
            <a:ext cx="2834640" cy="1097280"/>
          </a:xfrm>
          <a:prstGeom prst="rect">
            <a:avLst/>
          </a:prstGeom>
          <a:noFill/>
          <a:ln/>
        </p:spPr>
        <p:txBody>
          <a:bodyPr wrap="square" lIns="0" tIns="0" rIns="0" bIns="0" rtlCol="0" anchor="t"/>
          <a:lstStyle/>
          <a:p>
            <a:pPr marL="0" indent="0">
              <a:buNone/>
            </a:pPr>
            <a:r>
              <a:rPr lang="en-US" sz="1300" dirty="0">
                <a:solidFill>
                  <a:schemeClr val="accent4"/>
                </a:solidFill>
              </a:rPr>
              <a:t>accuracy of the Dummy, just by always predicting Won</a:t>
            </a:r>
            <a:endParaRPr lang="en-US" sz="1300" dirty="0"/>
          </a:p>
        </p:txBody>
      </p:sp>
      <p:sp>
        <p:nvSpPr>
          <p:cNvPr id="3" name="Text 6"/>
          <p:cNvSpPr txBox="1"/>
          <p:nvPr/>
        </p:nvSpPr>
        <p:spPr>
          <a:xfrm>
            <a:off x="7315200" y="4160520"/>
            <a:ext cx="4325112" cy="731520"/>
          </a:xfrm>
          <a:prstGeom prst="rect">
            <a:avLst/>
          </a:prstGeom>
          <a:noFill/>
          <a:ln/>
        </p:spPr>
        <p:txBody>
          <a:bodyPr wrap="square" lIns="0" tIns="0" rIns="0" bIns="0" rtlCol="0" anchor="b"/>
          <a:lstStyle/>
          <a:p>
            <a:pPr marL="0" indent="0">
              <a:buNone/>
            </a:pPr>
            <a:r>
              <a:rPr lang="en-US" sz="4000" b="1" dirty="0">
                <a:solidFill>
                  <a:schemeClr val="accent4"/>
                </a:solidFill>
                <a:latin typeface="Cambria" pitchFamily="34" charset="0"/>
                <a:ea typeface="Cambria" pitchFamily="34" charset="-122"/>
                <a:cs typeface="Cambria" pitchFamily="34" charset="-120"/>
              </a:rPr>
              <a:t>0.2794 → 0.2443</a:t>
            </a:r>
            <a:endParaRPr lang="en-US" sz="4000" dirty="0"/>
          </a:p>
        </p:txBody>
      </p:sp>
      <p:sp>
        <p:nvSpPr>
          <p:cNvPr id="10" name="Text 7"/>
          <p:cNvSpPr txBox="1"/>
          <p:nvPr/>
        </p:nvSpPr>
        <p:spPr>
          <a:xfrm>
            <a:off x="7315200" y="4937760"/>
            <a:ext cx="4325112" cy="1097280"/>
          </a:xfrm>
          <a:prstGeom prst="rect">
            <a:avLst/>
          </a:prstGeom>
          <a:noFill/>
          <a:ln/>
        </p:spPr>
        <p:txBody>
          <a:bodyPr wrap="square" lIns="0" tIns="0" rIns="0" bIns="0" rtlCol="0" anchor="t"/>
          <a:lstStyle/>
          <a:p>
            <a:pPr marL="0" indent="0">
              <a:buNone/>
            </a:pPr>
            <a:r>
              <a:rPr lang="en-US" sz="1300" dirty="0">
                <a:solidFill>
                  <a:schemeClr val="accent4"/>
                </a:solidFill>
              </a:rPr>
              <a:t>LR Brier after sigmoid calibration, still worse than the Dummy's 0.2421; calibration fixes the probability scale, not the ranking</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Scoring open deals, and why each score</a:t>
            </a:r>
            <a:endParaRPr lang="en-US" sz="3400" dirty="0"/>
          </a:p>
        </p:txBody>
      </p:sp>
      <p:sp>
        <p:nvSpPr>
          <p:cNvPr id="3" name="Text 1"/>
          <p:cNvSpPr txBox="1"/>
          <p:nvPr/>
        </p:nvSpPr>
        <p:spPr>
          <a:xfrm>
            <a:off x="548640" y="1371600"/>
            <a:ext cx="3108960" cy="731520"/>
          </a:xfrm>
          <a:prstGeom prst="rect">
            <a:avLst/>
          </a:prstGeom>
          <a:noFill/>
          <a:ln/>
        </p:spPr>
        <p:txBody>
          <a:bodyPr wrap="square" lIns="0" tIns="0" rIns="0" bIns="0" rtlCol="0" anchor="b"/>
          <a:lstStyle/>
          <a:p>
            <a:pPr marL="0" indent="0">
              <a:buNone/>
            </a:pPr>
            <a:r>
              <a:rPr lang="en-US" sz="4400" b="1" dirty="0">
                <a:solidFill>
                  <a:schemeClr val="accent1"/>
                </a:solidFill>
                <a:latin typeface="Cambria" pitchFamily="34" charset="0"/>
                <a:ea typeface="Cambria" pitchFamily="34" charset="-122"/>
                <a:cs typeface="Cambria" pitchFamily="34" charset="-120"/>
              </a:rPr>
              <a:t>1,589</a:t>
            </a:r>
            <a:endParaRPr lang="en-US" sz="4400" dirty="0"/>
          </a:p>
        </p:txBody>
      </p:sp>
      <p:sp>
        <p:nvSpPr>
          <p:cNvPr id="4" name="Text 2"/>
          <p:cNvSpPr txBox="1"/>
          <p:nvPr/>
        </p:nvSpPr>
        <p:spPr>
          <a:xfrm>
            <a:off x="548640" y="2148840"/>
            <a:ext cx="3108960" cy="548640"/>
          </a:xfrm>
          <a:prstGeom prst="rect">
            <a:avLst/>
          </a:prstGeom>
          <a:noFill/>
          <a:ln/>
        </p:spPr>
        <p:txBody>
          <a:bodyPr wrap="square" lIns="0" tIns="0" rIns="0" bIns="0" rtlCol="0" anchor="t"/>
          <a:lstStyle/>
          <a:p>
            <a:pPr marL="0" indent="0">
              <a:buNone/>
            </a:pPr>
            <a:r>
              <a:rPr lang="en-US" sz="1300" dirty="0">
                <a:solidFill>
                  <a:schemeClr val="accent4"/>
                </a:solidFill>
              </a:rPr>
              <a:t>Engaging deals scored</a:t>
            </a:r>
            <a:endParaRPr lang="en-US" sz="1300" dirty="0"/>
          </a:p>
        </p:txBody>
      </p:sp>
      <p:sp>
        <p:nvSpPr>
          <p:cNvPr id="5" name="Text 3"/>
          <p:cNvSpPr txBox="1"/>
          <p:nvPr/>
        </p:nvSpPr>
        <p:spPr>
          <a:xfrm>
            <a:off x="548640" y="2788920"/>
            <a:ext cx="3108960" cy="731520"/>
          </a:xfrm>
          <a:prstGeom prst="rect">
            <a:avLst/>
          </a:prstGeom>
          <a:noFill/>
          <a:ln/>
        </p:spPr>
        <p:txBody>
          <a:bodyPr wrap="square" lIns="0" tIns="0" rIns="0" bIns="0" rtlCol="0" anchor="b"/>
          <a:lstStyle/>
          <a:p>
            <a:pPr marL="0" indent="0">
              <a:buNone/>
            </a:pPr>
            <a:r>
              <a:rPr lang="en-US" sz="4400" b="1" dirty="0">
                <a:solidFill>
                  <a:schemeClr val="accent3"/>
                </a:solidFill>
                <a:latin typeface="Cambria" pitchFamily="34" charset="0"/>
                <a:ea typeface="Cambria" pitchFamily="34" charset="-122"/>
                <a:cs typeface="Cambria" pitchFamily="34" charset="-120"/>
              </a:rPr>
              <a:t>1,088</a:t>
            </a:r>
            <a:endParaRPr lang="en-US" sz="4400" dirty="0"/>
          </a:p>
        </p:txBody>
      </p:sp>
      <p:sp>
        <p:nvSpPr>
          <p:cNvPr id="6" name="Text 4"/>
          <p:cNvSpPr txBox="1"/>
          <p:nvPr/>
        </p:nvSpPr>
        <p:spPr>
          <a:xfrm>
            <a:off x="548640" y="3566160"/>
            <a:ext cx="3108960" cy="548640"/>
          </a:xfrm>
          <a:prstGeom prst="rect">
            <a:avLst/>
          </a:prstGeom>
          <a:noFill/>
          <a:ln/>
        </p:spPr>
        <p:txBody>
          <a:bodyPr wrap="square" lIns="0" tIns="0" rIns="0" bIns="0" rtlCol="0" anchor="t"/>
          <a:lstStyle/>
          <a:p>
            <a:pPr marL="0" indent="0">
              <a:buNone/>
            </a:pPr>
            <a:r>
              <a:rPr lang="en-US" sz="1300" dirty="0">
                <a:solidFill>
                  <a:schemeClr val="accent4"/>
                </a:solidFill>
              </a:rPr>
              <a:t>flagged: account missing, so the score is less reliable</a:t>
            </a:r>
            <a:endParaRPr lang="en-US" sz="1300" dirty="0"/>
          </a:p>
        </p:txBody>
      </p:sp>
      <p:sp>
        <p:nvSpPr>
          <p:cNvPr id="7" name="Text 5"/>
          <p:cNvSpPr txBox="1"/>
          <p:nvPr/>
        </p:nvSpPr>
        <p:spPr>
          <a:xfrm>
            <a:off x="548640" y="4206240"/>
            <a:ext cx="3291840" cy="731520"/>
          </a:xfrm>
          <a:prstGeom prst="rect">
            <a:avLst/>
          </a:prstGeom>
          <a:noFill/>
          <a:ln/>
        </p:spPr>
        <p:txBody>
          <a:bodyPr wrap="square" lIns="0" tIns="0" rIns="0" bIns="0" rtlCol="0" anchor="b"/>
          <a:lstStyle/>
          <a:p>
            <a:pPr marL="0" indent="0">
              <a:buNone/>
            </a:pPr>
            <a:r>
              <a:rPr lang="en-US" sz="3600" b="1" dirty="0">
                <a:solidFill>
                  <a:schemeClr val="accent2"/>
                </a:solidFill>
                <a:latin typeface="Cambria" pitchFamily="34" charset="0"/>
                <a:ea typeface="Cambria" pitchFamily="34" charset="-122"/>
                <a:cs typeface="Cambria" pitchFamily="34" charset="-120"/>
              </a:rPr>
              <a:t>400 / 1,189 / 0</a:t>
            </a:r>
            <a:endParaRPr lang="en-US" sz="3600" dirty="0"/>
          </a:p>
        </p:txBody>
      </p:sp>
      <p:sp>
        <p:nvSpPr>
          <p:cNvPr id="8" name="Text 6"/>
          <p:cNvSpPr txBox="1"/>
          <p:nvPr/>
        </p:nvSpPr>
        <p:spPr>
          <a:xfrm>
            <a:off x="548640" y="4983480"/>
            <a:ext cx="3291840" cy="548640"/>
          </a:xfrm>
          <a:prstGeom prst="rect">
            <a:avLst/>
          </a:prstGeom>
          <a:noFill/>
          <a:ln/>
        </p:spPr>
        <p:txBody>
          <a:bodyPr wrap="square" lIns="0" tIns="0" rIns="0" bIns="0" rtlCol="0" anchor="t"/>
          <a:lstStyle/>
          <a:p>
            <a:pPr marL="0" indent="0">
              <a:buNone/>
            </a:pPr>
            <a:r>
              <a:rPr lang="en-US" sz="1300" dirty="0">
                <a:solidFill>
                  <a:schemeClr val="accent4"/>
                </a:solidFill>
              </a:rPr>
              <a:t>High / Medium / Low priority (heuristic bands 0.70 and 0.40)</a:t>
            </a:r>
            <a:endParaRPr lang="en-US" sz="1300" dirty="0"/>
          </a:p>
        </p:txBody>
      </p:sp>
      <p:sp>
        <p:nvSpPr>
          <p:cNvPr id="9" name="deal-card"/>
          <p:cNvSpPr/>
          <p:nvPr/>
        </p:nvSpPr>
        <p:spPr>
          <a:xfrm>
            <a:off x="4480560" y="1417320"/>
            <a:ext cx="7132320" cy="3429000"/>
          </a:xfrm>
          <a:prstGeom prst="roundRect">
            <a:avLst>
              <a:gd name="adj" fmla="val 2564"/>
            </a:avLst>
          </a:prstGeom>
          <a:solidFill>
            <a:schemeClr val="bg1"/>
          </a:solidFill>
          <a:ln w="12700">
            <a:solidFill>
              <a:srgbClr val="DCE5E3"/>
            </a:solidFill>
            <a:prstDash val="solid"/>
          </a:ln>
          <a:effectLst>
            <a:outerShdw blurRad="101600" dist="25400" dir="5400000" algn="bl" rotWithShape="0">
              <a:srgbClr val="16232E">
                <a:alpha val="12000"/>
              </a:srgbClr>
            </a:outerShdw>
          </a:effectLst>
        </p:spPr>
        <p:txBody>
          <a:bodyPr/>
          <a:lstStyle/>
          <a:p>
            <a:endParaRPr/>
          </a:p>
        </p:txBody>
      </p:sp>
      <p:sp>
        <p:nvSpPr>
          <p:cNvPr id="10" name="icon-bg-tag"/>
          <p:cNvSpPr/>
          <p:nvPr/>
        </p:nvSpPr>
        <p:spPr>
          <a:xfrm>
            <a:off x="4800600" y="1737360"/>
            <a:ext cx="548640" cy="548640"/>
          </a:xfrm>
          <a:prstGeom prst="ellipse">
            <a:avLst/>
          </a:prstGeom>
          <a:solidFill>
            <a:schemeClr val="accent1"/>
          </a:solidFill>
          <a:ln/>
        </p:spPr>
        <p:txBody>
          <a:bodyPr/>
          <a:lstStyle/>
          <a:p>
            <a:endParaRPr/>
          </a:p>
        </p:txBody>
      </p:sp>
      <p:pic>
        <p:nvPicPr>
          <p:cNvPr id="11" name="icon-tag" descr="preencoded.png"/>
          <p:cNvPicPr>
            <a:picLocks noChangeAspect="1"/>
          </p:cNvPicPr>
          <p:nvPr/>
        </p:nvPicPr>
        <p:blipFill>
          <a:blip r:embed="rId3"/>
          <a:stretch>
            <a:fillRect/>
          </a:stretch>
        </p:blipFill>
        <p:spPr>
          <a:xfrm>
            <a:off x="4937760" y="1874520"/>
            <a:ext cx="274320" cy="274320"/>
          </a:xfrm>
          <a:prstGeom prst="rect">
            <a:avLst/>
          </a:prstGeom>
        </p:spPr>
      </p:pic>
      <p:sp>
        <p:nvSpPr>
          <p:cNvPr id="12" name="Text 9"/>
          <p:cNvSpPr txBox="1"/>
          <p:nvPr/>
        </p:nvSpPr>
        <p:spPr>
          <a:xfrm>
            <a:off x="5532120" y="1709928"/>
            <a:ext cx="3840480" cy="365760"/>
          </a:xfrm>
          <a:prstGeom prst="rect">
            <a:avLst/>
          </a:prstGeom>
          <a:noFill/>
          <a:ln/>
        </p:spPr>
        <p:txBody>
          <a:bodyPr wrap="square" lIns="0" tIns="0" rIns="0" bIns="0" rtlCol="0" anchor="t"/>
          <a:lstStyle/>
          <a:p>
            <a:pPr marL="0" indent="0">
              <a:buNone/>
            </a:pPr>
            <a:r>
              <a:rPr lang="en-US" sz="2000" b="1" dirty="0">
                <a:solidFill>
                  <a:schemeClr val="tx2"/>
                </a:solidFill>
              </a:rPr>
              <a:t>Deal AI76U58A</a:t>
            </a:r>
            <a:endParaRPr lang="en-US" sz="2000" dirty="0"/>
          </a:p>
        </p:txBody>
      </p:sp>
      <p:sp>
        <p:nvSpPr>
          <p:cNvPr id="13" name="Text 10"/>
          <p:cNvSpPr txBox="1"/>
          <p:nvPr/>
        </p:nvSpPr>
        <p:spPr>
          <a:xfrm>
            <a:off x="5532120" y="2075688"/>
            <a:ext cx="4206240" cy="320040"/>
          </a:xfrm>
          <a:prstGeom prst="rect">
            <a:avLst/>
          </a:prstGeom>
          <a:noFill/>
          <a:ln/>
        </p:spPr>
        <p:txBody>
          <a:bodyPr wrap="square" lIns="0" tIns="0" rIns="0" bIns="0" rtlCol="0" anchor="t"/>
          <a:lstStyle/>
          <a:p>
            <a:pPr marL="0" indent="0">
              <a:buNone/>
            </a:pPr>
            <a:r>
              <a:rPr lang="en-US" sz="1300" dirty="0">
                <a:solidFill>
                  <a:schemeClr val="accent4"/>
                </a:solidFill>
              </a:rPr>
              <a:t>Treequote · GTX Basic · Maureen Marcano</a:t>
            </a:r>
            <a:endParaRPr lang="en-US" sz="1300" dirty="0"/>
          </a:p>
        </p:txBody>
      </p:sp>
      <p:sp>
        <p:nvSpPr>
          <p:cNvPr id="14" name="Text 11"/>
          <p:cNvSpPr txBox="1"/>
          <p:nvPr/>
        </p:nvSpPr>
        <p:spPr>
          <a:xfrm>
            <a:off x="9692640" y="1645920"/>
            <a:ext cx="1645920" cy="640080"/>
          </a:xfrm>
          <a:prstGeom prst="rect">
            <a:avLst/>
          </a:prstGeom>
          <a:noFill/>
          <a:ln/>
        </p:spPr>
        <p:txBody>
          <a:bodyPr wrap="square" lIns="0" tIns="0" rIns="0" bIns="0" rtlCol="0" anchor="t"/>
          <a:lstStyle/>
          <a:p>
            <a:pPr marL="0" indent="0" algn="r">
              <a:buNone/>
            </a:pPr>
            <a:r>
              <a:rPr lang="en-US" sz="4000" b="1" dirty="0">
                <a:solidFill>
                  <a:schemeClr val="accent1"/>
                </a:solidFill>
                <a:latin typeface="Cambria" pitchFamily="34" charset="0"/>
                <a:ea typeface="Cambria" pitchFamily="34" charset="-122"/>
                <a:cs typeface="Cambria" pitchFamily="34" charset="-120"/>
              </a:rPr>
              <a:t>88%</a:t>
            </a:r>
            <a:endParaRPr lang="en-US" sz="4000" dirty="0"/>
          </a:p>
        </p:txBody>
      </p:sp>
      <p:sp>
        <p:nvSpPr>
          <p:cNvPr id="15" name="Text 12"/>
          <p:cNvSpPr txBox="1"/>
          <p:nvPr/>
        </p:nvSpPr>
        <p:spPr>
          <a:xfrm>
            <a:off x="9235440" y="2286000"/>
            <a:ext cx="2103120" cy="274320"/>
          </a:xfrm>
          <a:prstGeom prst="rect">
            <a:avLst/>
          </a:prstGeom>
          <a:noFill/>
          <a:ln/>
        </p:spPr>
        <p:txBody>
          <a:bodyPr wrap="square" lIns="0" tIns="0" rIns="0" bIns="0" rtlCol="0" anchor="t"/>
          <a:lstStyle/>
          <a:p>
            <a:pPr marL="0" indent="0" algn="r">
              <a:buNone/>
            </a:pPr>
            <a:r>
              <a:rPr lang="en-US" sz="1200" dirty="0">
                <a:solidFill>
                  <a:schemeClr val="accent4"/>
                </a:solidFill>
              </a:rPr>
              <a:t>P(Won) · High priority</a:t>
            </a:r>
            <a:endParaRPr lang="en-US" sz="1200" dirty="0"/>
          </a:p>
        </p:txBody>
      </p:sp>
      <p:sp>
        <p:nvSpPr>
          <p:cNvPr id="16" name="Text 13"/>
          <p:cNvSpPr txBox="1"/>
          <p:nvPr/>
        </p:nvSpPr>
        <p:spPr>
          <a:xfrm>
            <a:off x="4800600" y="2880360"/>
            <a:ext cx="3108960" cy="320040"/>
          </a:xfrm>
          <a:prstGeom prst="rect">
            <a:avLst/>
          </a:prstGeom>
          <a:noFill/>
          <a:ln/>
        </p:spPr>
        <p:txBody>
          <a:bodyPr wrap="square" lIns="0" tIns="0" rIns="0" bIns="0" rtlCol="0" anchor="t"/>
          <a:lstStyle/>
          <a:p>
            <a:pPr marL="0" indent="0">
              <a:buNone/>
            </a:pPr>
            <a:r>
              <a:rPr lang="en-US" sz="1500" b="1" dirty="0">
                <a:solidFill>
                  <a:schemeClr val="accent1"/>
                </a:solidFill>
              </a:rPr>
              <a:t>Raises the score</a:t>
            </a:r>
            <a:endParaRPr lang="en-US" sz="1500" dirty="0"/>
          </a:p>
        </p:txBody>
      </p:sp>
      <p:sp>
        <p:nvSpPr>
          <p:cNvPr id="17" name="Text 14"/>
          <p:cNvSpPr txBox="1"/>
          <p:nvPr/>
        </p:nvSpPr>
        <p:spPr>
          <a:xfrm>
            <a:off x="4800600" y="3246120"/>
            <a:ext cx="3200400" cy="219456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chemeClr val="tx1"/>
                </a:solidFill>
              </a:rPr>
              <a:t>engage_year = 2016: +0.294</a:t>
            </a:r>
            <a:endParaRPr lang="en-US" sz="1500" dirty="0"/>
          </a:p>
          <a:p>
            <a:pPr marL="203200" indent="-203200">
              <a:spcAft>
                <a:spcPts val="800"/>
              </a:spcAft>
              <a:buSzPct val="100000"/>
              <a:buChar char="•"/>
            </a:pPr>
            <a:r>
              <a:rPr lang="en-US" sz="1300" dirty="0">
                <a:solidFill>
                  <a:schemeClr val="tx1"/>
                </a:solidFill>
              </a:rPr>
              <a:t>sales_agent = Maureen Marcano: +0.029</a:t>
            </a:r>
            <a:endParaRPr lang="en-US" sz="1500" dirty="0"/>
          </a:p>
          <a:p>
            <a:pPr marL="203200" indent="-203200">
              <a:spcAft>
                <a:spcPts val="800"/>
              </a:spcAft>
              <a:buSzPct val="100000"/>
              <a:buChar char="•"/>
            </a:pPr>
            <a:r>
              <a:rPr lang="en-US" sz="1300" dirty="0">
                <a:solidFill>
                  <a:schemeClr val="tx1"/>
                </a:solidFill>
              </a:rPr>
              <a:t>engage_month = 12: +0.020</a:t>
            </a:r>
            <a:endParaRPr lang="en-US" sz="1500" dirty="0"/>
          </a:p>
        </p:txBody>
      </p:sp>
      <p:sp>
        <p:nvSpPr>
          <p:cNvPr id="18" name="Text 15"/>
          <p:cNvSpPr txBox="1"/>
          <p:nvPr/>
        </p:nvSpPr>
        <p:spPr>
          <a:xfrm>
            <a:off x="8138160" y="2880360"/>
            <a:ext cx="3108960" cy="320040"/>
          </a:xfrm>
          <a:prstGeom prst="rect">
            <a:avLst/>
          </a:prstGeom>
          <a:noFill/>
          <a:ln/>
        </p:spPr>
        <p:txBody>
          <a:bodyPr wrap="square" lIns="0" tIns="0" rIns="0" bIns="0" rtlCol="0" anchor="t"/>
          <a:lstStyle/>
          <a:p>
            <a:pPr marL="0" indent="0">
              <a:buNone/>
            </a:pPr>
            <a:r>
              <a:rPr lang="en-US" sz="1500" b="1" dirty="0">
                <a:solidFill>
                  <a:schemeClr val="accent3"/>
                </a:solidFill>
              </a:rPr>
              <a:t>Lowers the score</a:t>
            </a:r>
            <a:endParaRPr lang="en-US" sz="1500" dirty="0"/>
          </a:p>
        </p:txBody>
      </p:sp>
      <p:sp>
        <p:nvSpPr>
          <p:cNvPr id="19" name="Text 16"/>
          <p:cNvSpPr txBox="1"/>
          <p:nvPr/>
        </p:nvSpPr>
        <p:spPr>
          <a:xfrm>
            <a:off x="8138160" y="3246120"/>
            <a:ext cx="3200400" cy="219456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chemeClr val="tx1"/>
                </a:solidFill>
              </a:rPr>
              <a:t>engage_quarter = 4: -0.064</a:t>
            </a:r>
            <a:endParaRPr lang="en-US" sz="1500" dirty="0"/>
          </a:p>
          <a:p>
            <a:pPr marL="203200" indent="-203200">
              <a:spcAft>
                <a:spcPts val="800"/>
              </a:spcAft>
              <a:buSzPct val="100000"/>
              <a:buChar char="•"/>
            </a:pPr>
            <a:r>
              <a:rPr lang="en-US" sz="1300" dirty="0">
                <a:solidFill>
                  <a:schemeClr val="tx1"/>
                </a:solidFill>
              </a:rPr>
              <a:t>sector = telecommunications: -0.012</a:t>
            </a:r>
            <a:endParaRPr lang="en-US" sz="1500" dirty="0"/>
          </a:p>
          <a:p>
            <a:pPr marL="203200" indent="-203200">
              <a:spcAft>
                <a:spcPts val="800"/>
              </a:spcAft>
              <a:buSzPct val="100000"/>
              <a:buChar char="•"/>
            </a:pPr>
            <a:r>
              <a:rPr lang="en-US" sz="1300" dirty="0">
                <a:solidFill>
                  <a:schemeClr val="tx1"/>
                </a:solidFill>
              </a:rPr>
              <a:t>regional_office = West: -0.002</a:t>
            </a:r>
            <a:endParaRPr lang="en-US" sz="1500" dirty="0"/>
          </a:p>
        </p:txBody>
      </p:sp>
      <p:sp>
        <p:nvSpPr>
          <p:cNvPr id="20" name="Text 17"/>
          <p:cNvSpPr txBox="1"/>
          <p:nvPr/>
        </p:nvSpPr>
        <p:spPr>
          <a:xfrm>
            <a:off x="4800600" y="4480560"/>
            <a:ext cx="6492240" cy="320040"/>
          </a:xfrm>
          <a:prstGeom prst="rect">
            <a:avLst/>
          </a:prstGeom>
          <a:noFill/>
          <a:ln/>
        </p:spPr>
        <p:txBody>
          <a:bodyPr wrap="square" lIns="0" tIns="0" rIns="0" bIns="0" rtlCol="0" anchor="t"/>
          <a:lstStyle/>
          <a:p>
            <a:pPr marL="0" indent="0">
              <a:buNone/>
            </a:pPr>
            <a:r>
              <a:rPr lang="en-US" sz="1100" i="1" dirty="0">
                <a:solidFill>
                  <a:schemeClr val="accent4"/>
                </a:solidFill>
              </a:rPr>
              <a:t>Values are changes in P(Won) when that input is reset to the training reference.</a:t>
            </a:r>
            <a:endParaRPr lang="en-US" sz="1100" dirty="0"/>
          </a:p>
        </p:txBody>
      </p:sp>
      <p:sp>
        <p:nvSpPr>
          <p:cNvPr id="21" name="icon-bg-warn"/>
          <p:cNvSpPr/>
          <p:nvPr/>
        </p:nvSpPr>
        <p:spPr>
          <a:xfrm>
            <a:off x="4480560" y="5687568"/>
            <a:ext cx="457200" cy="457200"/>
          </a:xfrm>
          <a:prstGeom prst="ellipse">
            <a:avLst/>
          </a:prstGeom>
          <a:solidFill>
            <a:schemeClr val="accent2"/>
          </a:solidFill>
          <a:ln/>
        </p:spPr>
        <p:txBody>
          <a:bodyPr/>
          <a:lstStyle/>
          <a:p>
            <a:endParaRPr/>
          </a:p>
        </p:txBody>
      </p:sp>
      <p:pic>
        <p:nvPicPr>
          <p:cNvPr id="22" name="icon-warn" descr="preencoded.png"/>
          <p:cNvPicPr>
            <a:picLocks noChangeAspect="1"/>
          </p:cNvPicPr>
          <p:nvPr/>
        </p:nvPicPr>
        <p:blipFill>
          <a:blip r:embed="rId4"/>
          <a:stretch>
            <a:fillRect/>
          </a:stretch>
        </p:blipFill>
        <p:spPr>
          <a:xfrm>
            <a:off x="4599432" y="5806440"/>
            <a:ext cx="228600" cy="228600"/>
          </a:xfrm>
          <a:prstGeom prst="rect">
            <a:avLst/>
          </a:prstGeom>
        </p:spPr>
      </p:pic>
      <p:sp>
        <p:nvSpPr>
          <p:cNvPr id="23" name="Text 19"/>
          <p:cNvSpPr txBox="1"/>
          <p:nvPr/>
        </p:nvSpPr>
        <p:spPr>
          <a:xfrm>
            <a:off x="5120640" y="5623560"/>
            <a:ext cx="6492240" cy="566928"/>
          </a:xfrm>
          <a:prstGeom prst="rect">
            <a:avLst/>
          </a:prstGeom>
          <a:noFill/>
          <a:ln/>
        </p:spPr>
        <p:txBody>
          <a:bodyPr wrap="square" lIns="0" tIns="0" rIns="0" bIns="0" rtlCol="0" anchor="ctr"/>
          <a:lstStyle/>
          <a:p>
            <a:pPr marL="0" indent="0">
              <a:buNone/>
            </a:pPr>
            <a:r>
              <a:rPr lang="en-US" sz="1300" dirty="0">
                <a:solidFill>
                  <a:schemeClr val="tx1"/>
                </a:solidFill>
              </a:rPr>
              <a:t>Priority bands are a heuristic, not a validated sales policy. Scores come from a frozen model snapshot, not historical as-of predictions.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
        <p:nvSpPr>
          <p:cNvPr id="26" name="icon-bg-check"/>
          <p:cNvSpPr/>
          <p:nvPr/>
        </p:nvSpPr>
        <p:spPr>
          <a:xfrm>
            <a:off x="4480560" y="5047488"/>
            <a:ext cx="457200" cy="457200"/>
          </a:xfrm>
          <a:prstGeom prst="ellipse">
            <a:avLst/>
          </a:prstGeom>
          <a:solidFill>
            <a:schemeClr val="accent1"/>
          </a:solidFill>
          <a:ln/>
        </p:spPr>
        <p:txBody>
          <a:bodyPr/>
          <a:lstStyle/>
          <a:p>
            <a:endParaRPr/>
          </a:p>
        </p:txBody>
      </p:sp>
      <p:pic>
        <p:nvPicPr>
          <p:cNvPr id="27" name="icon-check" descr="preencoded.png"/>
          <p:cNvPicPr>
            <a:picLocks noChangeAspect="1"/>
          </p:cNvPicPr>
          <p:nvPr/>
        </p:nvPicPr>
        <p:blipFill>
          <a:blip r:embed="rId5"/>
          <a:stretch>
            <a:fillRect/>
          </a:stretch>
        </p:blipFill>
        <p:spPr>
          <a:xfrm>
            <a:off x="4599432" y="5166360"/>
            <a:ext cx="228600" cy="228600"/>
          </a:xfrm>
          <a:prstGeom prst="rect">
            <a:avLst/>
          </a:prstGeom>
        </p:spPr>
      </p:pic>
      <p:sp>
        <p:nvSpPr>
          <p:cNvPr id="28" name="check-text"/>
          <p:cNvSpPr txBox="1"/>
          <p:nvPr/>
        </p:nvSpPr>
        <p:spPr>
          <a:xfrm>
            <a:off x="5120640" y="4983480"/>
            <a:ext cx="6492240" cy="566928"/>
          </a:xfrm>
          <a:prstGeom prst="rect">
            <a:avLst/>
          </a:prstGeom>
          <a:noFill/>
          <a:ln/>
        </p:spPr>
        <p:txBody>
          <a:bodyPr wrap="square" lIns="0" tIns="0" rIns="0" bIns="0" rtlCol="0" anchor="ctr"/>
          <a:lstStyle/>
          <a:p>
            <a:pPr marL="0" indent="0">
              <a:buNone/>
            </a:pPr>
            <a:r>
              <a:rPr lang="en-US" sz="1300" dirty="0">
                <a:solidFill>
                  <a:schemeClr val="tx1"/>
                </a:solidFill>
              </a:rPr>
              <a:t>Checked: factors agree with RF TreeSHAP (median Spearman 0.76); resetting the top 3 moves P(Won) 3.1× more than random. Associations, not causes.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Result B: nonlinear models near the oracle</a:t>
            </a:r>
            <a:endParaRPr lang="en-US" sz="3400" dirty="0"/>
          </a:p>
        </p:txBody>
      </p:sp>
      <p:graphicFrame>
        <p:nvGraphicFramePr>
          <p:cNvPr id="3" name="auc-chart-b"/>
          <p:cNvGraphicFramePr/>
          <p:nvPr/>
        </p:nvGraphicFramePr>
        <p:xfrm>
          <a:off x="548640" y="1325880"/>
          <a:ext cx="694944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909560" y="1417320"/>
            <a:ext cx="3749040" cy="731520"/>
          </a:xfrm>
          <a:prstGeom prst="rect">
            <a:avLst/>
          </a:prstGeom>
          <a:noFill/>
          <a:ln/>
        </p:spPr>
        <p:txBody>
          <a:bodyPr wrap="square" lIns="0" tIns="0" rIns="0" bIns="0" rtlCol="0" anchor="b"/>
          <a:lstStyle/>
          <a:p>
            <a:pPr marL="0" indent="0">
              <a:buNone/>
            </a:pPr>
            <a:r>
              <a:rPr lang="en-US" sz="4400" b="1" dirty="0">
                <a:solidFill>
                  <a:schemeClr val="accent1"/>
                </a:solidFill>
                <a:latin typeface="Cambria" pitchFamily="34" charset="0"/>
                <a:ea typeface="Cambria" pitchFamily="34" charset="-122"/>
                <a:cs typeface="Cambria" pitchFamily="34" charset="-120"/>
              </a:rPr>
              <a:t>0.869</a:t>
            </a:r>
            <a:endParaRPr lang="en-US" sz="4400" dirty="0"/>
          </a:p>
        </p:txBody>
      </p:sp>
      <p:sp>
        <p:nvSpPr>
          <p:cNvPr id="5" name="Text 2"/>
          <p:cNvSpPr txBox="1"/>
          <p:nvPr/>
        </p:nvSpPr>
        <p:spPr>
          <a:xfrm>
            <a:off x="7909560" y="2194560"/>
            <a:ext cx="3749040" cy="548640"/>
          </a:xfrm>
          <a:prstGeom prst="rect">
            <a:avLst/>
          </a:prstGeom>
          <a:noFill/>
          <a:ln/>
        </p:spPr>
        <p:txBody>
          <a:bodyPr wrap="square" lIns="0" tIns="0" rIns="0" bIns="0" rtlCol="0" anchor="t"/>
          <a:lstStyle/>
          <a:p>
            <a:pPr marL="0" indent="0">
              <a:buNone/>
            </a:pPr>
            <a:r>
              <a:rPr lang="en-US" sz="1300" dirty="0">
                <a:solidFill>
                  <a:schemeClr val="accent4"/>
                </a:solidFill>
              </a:rPr>
              <a:t>TabNet, vs oracle 0.878</a:t>
            </a:r>
            <a:endParaRPr lang="en-US" sz="1300" dirty="0"/>
          </a:p>
        </p:txBody>
      </p:sp>
      <p:sp>
        <p:nvSpPr>
          <p:cNvPr id="6" name="Text 3"/>
          <p:cNvSpPr txBox="1"/>
          <p:nvPr/>
        </p:nvSpPr>
        <p:spPr>
          <a:xfrm>
            <a:off x="7909560" y="2880360"/>
            <a:ext cx="3749040" cy="822960"/>
          </a:xfrm>
          <a:prstGeom prst="rect">
            <a:avLst/>
          </a:prstGeom>
          <a:noFill/>
          <a:ln/>
        </p:spPr>
        <p:txBody>
          <a:bodyPr wrap="square" lIns="0" tIns="0" rIns="0" bIns="0" rtlCol="0" anchor="t"/>
          <a:lstStyle/>
          <a:p>
            <a:pPr marL="0" indent="0">
              <a:buNone/>
            </a:pPr>
            <a:r>
              <a:rPr lang="en-US" sz="1500" dirty="0">
                <a:solidFill>
                  <a:schemeClr val="tx1"/>
                </a:solidFill>
              </a:rPr>
              <a:t>Logistic Regression trails because it cannot represent the planted interactions.</a:t>
            </a:r>
            <a:endParaRPr lang="en-US" sz="1500" dirty="0"/>
          </a:p>
        </p:txBody>
      </p:sp>
      <p:sp>
        <p:nvSpPr>
          <p:cNvPr id="7" name="seed-card"/>
          <p:cNvSpPr/>
          <p:nvPr/>
        </p:nvSpPr>
        <p:spPr>
          <a:xfrm>
            <a:off x="7909560" y="3840480"/>
            <a:ext cx="3749040" cy="2011680"/>
          </a:xfrm>
          <a:prstGeom prst="roundRect">
            <a:avLst>
              <a:gd name="adj" fmla="val 3636"/>
            </a:avLst>
          </a:prstGeom>
          <a:solidFill>
            <a:schemeClr val="bg2"/>
          </a:solidFill>
          <a:ln/>
        </p:spPr>
        <p:txBody>
          <a:bodyPr/>
          <a:lstStyle/>
          <a:p>
            <a:endParaRPr/>
          </a:p>
        </p:txBody>
      </p:sp>
      <p:sp>
        <p:nvSpPr>
          <p:cNvPr id="8" name="Text 5"/>
          <p:cNvSpPr txBox="1"/>
          <p:nvPr/>
        </p:nvSpPr>
        <p:spPr>
          <a:xfrm>
            <a:off x="8092440" y="3959352"/>
            <a:ext cx="3474720" cy="320040"/>
          </a:xfrm>
          <a:prstGeom prst="rect">
            <a:avLst/>
          </a:prstGeom>
          <a:noFill/>
          <a:ln/>
        </p:spPr>
        <p:txBody>
          <a:bodyPr wrap="square" lIns="0" tIns="0" rIns="0" bIns="0" rtlCol="0" anchor="t"/>
          <a:lstStyle/>
          <a:p>
            <a:pPr marL="0" indent="0">
              <a:buNone/>
            </a:pPr>
            <a:r>
              <a:rPr lang="en-US" sz="1300" b="1" dirty="0">
                <a:solidFill>
                  <a:schemeClr val="tx2"/>
                </a:solidFill>
              </a:rPr>
              <a:t>Five regenerated datasets (k = 3)</a:t>
            </a:r>
            <a:endParaRPr lang="en-US" sz="1300" dirty="0"/>
          </a:p>
        </p:txBody>
      </p:sp>
      <p:sp>
        <p:nvSpPr>
          <p:cNvPr id="9" name="Text 6"/>
          <p:cNvSpPr txBox="1"/>
          <p:nvPr/>
        </p:nvSpPr>
        <p:spPr>
          <a:xfrm>
            <a:off x="8092440" y="4343400"/>
            <a:ext cx="3474720" cy="1645920"/>
          </a:xfrm>
          <a:prstGeom prst="rect">
            <a:avLst/>
          </a:prstGeom>
          <a:noFill/>
          <a:ln/>
        </p:spPr>
        <p:txBody>
          <a:bodyPr wrap="square" lIns="0" tIns="0" rIns="0" bIns="0" rtlCol="0" anchor="t"/>
          <a:lstStyle/>
          <a:p>
            <a:pPr marL="0" indent="0">
              <a:spcAft>
                <a:spcPts val="300"/>
              </a:spcAft>
              <a:buNone/>
            </a:pPr>
            <a:r>
              <a:rPr lang="en-US" sz="1300" dirty="0">
                <a:solidFill>
                  <a:schemeClr val="tx1"/>
                </a:solidFill>
              </a:rPr>
              <a:t>TabNet: 0.875 ± 0.008</a:t>
            </a:r>
            <a:endParaRPr lang="en-US" sz="1500" dirty="0"/>
          </a:p>
          <a:p>
            <a:pPr marL="0" indent="0">
              <a:spcAft>
                <a:spcPts val="300"/>
              </a:spcAft>
              <a:buNone/>
            </a:pPr>
            <a:r>
              <a:rPr lang="en-US" sz="1300" dirty="0">
                <a:solidFill>
                  <a:schemeClr val="tx1"/>
                </a:solidFill>
              </a:rPr>
              <a:t>MLP: 0.873 ± 0.008</a:t>
            </a:r>
            <a:endParaRPr lang="en-US" sz="1500" dirty="0"/>
          </a:p>
          <a:p>
            <a:pPr marL="0" indent="0">
              <a:spcAft>
                <a:spcPts val="300"/>
              </a:spcAft>
              <a:buNone/>
            </a:pPr>
            <a:r>
              <a:rPr lang="en-US" sz="1300" dirty="0">
                <a:solidFill>
                  <a:schemeClr val="tx1"/>
                </a:solidFill>
              </a:rPr>
              <a:t>Random Forest: 0.872 ± 0.007</a:t>
            </a:r>
            <a:endParaRPr lang="en-US" sz="1500" dirty="0"/>
          </a:p>
          <a:p>
            <a:pPr marL="0" indent="0">
              <a:spcAft>
                <a:spcPts val="300"/>
              </a:spcAft>
              <a:buNone/>
            </a:pPr>
            <a:r>
              <a:rPr lang="en-US" sz="1300" dirty="0">
                <a:solidFill>
                  <a:schemeClr val="tx1"/>
                </a:solidFill>
              </a:rPr>
              <a:t>Logistic Regression: 0.827 ± 0.008</a:t>
            </a:r>
            <a:endParaRPr lang="en-US" sz="1500" dirty="0"/>
          </a:p>
          <a:p>
            <a:pPr marL="0" indent="0">
              <a:spcAft>
                <a:spcPts val="300"/>
              </a:spcAft>
              <a:buNone/>
            </a:pPr>
            <a:r>
              <a:rPr lang="en-US" sz="1300" dirty="0">
                <a:solidFill>
                  <a:schemeClr val="tx1"/>
                </a:solidFill>
              </a:rPr>
              <a:t>Oracle: 0.886 ± 0.007</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TabNet vs MLP: no clear accuracy winner</a:t>
            </a:r>
            <a:endParaRPr lang="en-US" sz="3400" dirty="0"/>
          </a:p>
        </p:txBody>
      </p:sp>
      <p:graphicFrame>
        <p:nvGraphicFramePr>
          <p:cNvPr id="9" name="metrics-table"/>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3291840"/>
        </p:xfrm>
        <a:graphic>
          <a:graphicData uri="http://schemas.openxmlformats.org/drawingml/2006/table">
            <a:tbl>
              <a:tblPr/>
              <a:tblGrid>
                <a:gridCol w="320040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tblGrid>
              <a:tr h="411480">
                <a:tc>
                  <a:txBody>
                    <a:bodyPr/>
                    <a:lstStyle/>
                    <a:p>
                      <a:pPr marL="0" indent="0" algn="l">
                        <a:buNone/>
                      </a:pPr>
                      <a:r>
                        <a:rPr lang="en-US" sz="1400" b="1" dirty="0">
                          <a:solidFill>
                            <a:schemeClr val="bg1"/>
                          </a:solidFill>
                        </a:rPr>
                        <a:t>Comparison</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marL="0" indent="0" algn="r">
                        <a:buNone/>
                      </a:pPr>
                      <a:r>
                        <a:rPr lang="en-US" sz="1400" b="1" dirty="0">
                          <a:solidFill>
                            <a:schemeClr val="bg1"/>
                          </a:solidFill>
                        </a:rPr>
                        <a:t>MLP</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marL="0" indent="0" algn="r">
                        <a:buNone/>
                      </a:pPr>
                      <a:r>
                        <a:rPr lang="en-US" sz="1400" b="1" dirty="0">
                          <a:solidFill>
                            <a:schemeClr val="bg1"/>
                          </a:solidFill>
                        </a:rPr>
                        <a:t>TabNet</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1480">
                <a:tc>
                  <a:txBody>
                    <a:bodyPr/>
                    <a:lstStyle/>
                    <a:p>
                      <a:pPr marL="0" indent="0" algn="l">
                        <a:buNone/>
                      </a:pPr>
                      <a:r>
                        <a:rPr lang="en-US" sz="1400" dirty="0">
                          <a:solidFill>
                            <a:schemeClr val="tx1"/>
                          </a:solidFill>
                        </a:rPr>
                        <a:t>Real data: test ROC-AUC</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0.495</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0.507</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1480">
                <a:tc>
                  <a:txBody>
                    <a:bodyPr/>
                    <a:lstStyle/>
                    <a:p>
                      <a:pPr marL="0" indent="0" algn="l">
                        <a:buNone/>
                      </a:pPr>
                      <a:r>
                        <a:rPr lang="en-US" sz="1400" dirty="0">
                          <a:solidFill>
                            <a:schemeClr val="tx1"/>
                          </a:solidFill>
                        </a:rPr>
                        <a:t>Real data: validation ROC-AUC</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0.529</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0.515</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pPr marL="0" indent="0" algn="l">
                        <a:buNone/>
                      </a:pPr>
                      <a:r>
                        <a:rPr lang="en-US" sz="1400" dirty="0">
                          <a:solidFill>
                            <a:schemeClr val="tx1"/>
                          </a:solidFill>
                        </a:rPr>
                        <a:t>Simulated, interactions (5 seeds)</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0.873</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0.875</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indent="0" algn="l">
                        <a:buNone/>
                      </a:pPr>
                      <a:r>
                        <a:rPr lang="en-US" sz="1400" dirty="0">
                          <a:solidFill>
                            <a:schemeClr val="tx1"/>
                          </a:solidFill>
                        </a:rPr>
                        <a:t>Simulated, smooth signals (5 seeds)</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0.866</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0.868</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pPr marL="0" indent="0" algn="l">
                        <a:buNone/>
                      </a:pPr>
                      <a:r>
                        <a:rPr lang="en-US" sz="1400" dirty="0">
                          <a:solidFill>
                            <a:schemeClr val="tx1"/>
                          </a:solidFill>
                        </a:rPr>
                        <a:t>Trainable parameters</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7.6k</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11.3k</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pPr marL="0" indent="0" algn="l">
                        <a:buNone/>
                      </a:pPr>
                      <a:r>
                        <a:rPr lang="en-US" sz="1400" dirty="0">
                          <a:solidFill>
                            <a:schemeClr val="tx1"/>
                          </a:solidFill>
                        </a:rPr>
                        <a:t>Train time: real / 100k simulated</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0.3 s / 3 s</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8 s / 107 s</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pPr marL="0" indent="0" algn="l">
                        <a:buNone/>
                      </a:pPr>
                      <a:r>
                        <a:rPr lang="en-US" sz="1400" dirty="0">
                          <a:solidFill>
                            <a:schemeClr val="tx1"/>
                          </a:solidFill>
                        </a:rPr>
                        <a:t>Built-in explanation</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None</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Attention masks</a:t>
                      </a:r>
                      <a:endParaRPr lang="en-US" sz="1400" dirty="0"/>
                    </a:p>
                  </a:txBody>
                  <a:tcPr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4" name="Text 1"/>
          <p:cNvSpPr txBox="1"/>
          <p:nvPr/>
        </p:nvSpPr>
        <p:spPr>
          <a:xfrm>
            <a:off x="7909560" y="1417320"/>
            <a:ext cx="3749039" cy="731520"/>
          </a:xfrm>
          <a:prstGeom prst="rect">
            <a:avLst/>
          </a:prstGeom>
          <a:noFill/>
          <a:ln/>
        </p:spPr>
        <p:txBody>
          <a:bodyPr wrap="square" lIns="0" tIns="0" rIns="0" bIns="0" rtlCol="0" anchor="b"/>
          <a:lstStyle/>
          <a:p>
            <a:pPr marL="0" indent="0">
              <a:buNone/>
            </a:pPr>
            <a:r>
              <a:rPr lang="en-US" sz="4000" b="1" dirty="0">
                <a:solidFill>
                  <a:schemeClr val="accent3"/>
                </a:solidFill>
                <a:latin typeface="Cambria" pitchFamily="34" charset="0"/>
                <a:ea typeface="Cambria" pitchFamily="34" charset="-122"/>
                <a:cs typeface="Cambria" pitchFamily="34" charset="-120"/>
              </a:rPr>
              <a:t>+0.011</a:t>
            </a:r>
            <a:endParaRPr lang="en-US" sz="4000" dirty="0"/>
          </a:p>
        </p:txBody>
      </p:sp>
      <p:sp>
        <p:nvSpPr>
          <p:cNvPr id="5" name="Text 2"/>
          <p:cNvSpPr txBox="1"/>
          <p:nvPr/>
        </p:nvSpPr>
        <p:spPr>
          <a:xfrm>
            <a:off x="7909560" y="2194560"/>
            <a:ext cx="3749039" cy="685800"/>
          </a:xfrm>
          <a:prstGeom prst="rect">
            <a:avLst/>
          </a:prstGeom>
          <a:noFill/>
          <a:ln/>
        </p:spPr>
        <p:txBody>
          <a:bodyPr wrap="square" lIns="0" tIns="0" rIns="0" bIns="0" rtlCol="0" anchor="t"/>
          <a:lstStyle/>
          <a:p>
            <a:pPr marL="0" indent="0">
              <a:buNone/>
            </a:pPr>
            <a:r>
              <a:rPr lang="en-US" sz="1300" dirty="0">
                <a:solidFill>
                  <a:schemeClr val="accent4"/>
                </a:solidFill>
              </a:rPr>
              <a:t>TabNet − MLP test ROC-AUC on real data; 95% CI −0.030 to +0.054, so not a real win</a:t>
            </a:r>
            <a:endParaRPr lang="en-US" sz="1300" dirty="0"/>
          </a:p>
        </p:txBody>
      </p:sp>
      <p:sp>
        <p:nvSpPr>
          <p:cNvPr id="7" name="Text 4"/>
          <p:cNvSpPr txBox="1"/>
          <p:nvPr/>
        </p:nvSpPr>
        <p:spPr>
          <a:xfrm>
            <a:off x="7909560" y="3154680"/>
            <a:ext cx="3749039" cy="73152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27×</a:t>
            </a:r>
            <a:endParaRPr lang="en-US" sz="4000" dirty="0"/>
          </a:p>
        </p:txBody>
      </p:sp>
      <p:sp>
        <p:nvSpPr>
          <p:cNvPr id="8" name="Text 5"/>
          <p:cNvSpPr txBox="1"/>
          <p:nvPr/>
        </p:nvSpPr>
        <p:spPr>
          <a:xfrm>
            <a:off x="7909560" y="3931920"/>
            <a:ext cx="3749039" cy="685800"/>
          </a:xfrm>
          <a:prstGeom prst="rect">
            <a:avLst/>
          </a:prstGeom>
          <a:noFill/>
          <a:ln/>
        </p:spPr>
        <p:txBody>
          <a:bodyPr wrap="square" lIns="0" tIns="0" rIns="0" bIns="0" rtlCol="0" anchor="t"/>
          <a:lstStyle/>
          <a:p>
            <a:pPr marL="0" indent="0">
              <a:buNone/>
            </a:pPr>
            <a:r>
              <a:rPr lang="en-US" sz="1300" dirty="0">
                <a:solidFill>
                  <a:schemeClr val="accent4"/>
                </a:solidFill>
              </a:rPr>
              <a:t>slower for TabNet to train on real data (35× on 100k simulated deals)</a:t>
            </a:r>
            <a:endParaRPr lang="en-US" sz="1300" dirty="0"/>
          </a:p>
        </p:txBody>
      </p:sp>
      <p:sp>
        <p:nvSpPr>
          <p:cNvPr id="11" name="Text 8"/>
          <p:cNvSpPr txBox="1"/>
          <p:nvPr/>
        </p:nvSpPr>
        <p:spPr>
          <a:xfrm>
            <a:off x="548640" y="4937760"/>
            <a:ext cx="11091672" cy="731520"/>
          </a:xfrm>
          <a:prstGeom prst="rect">
            <a:avLst/>
          </a:prstGeom>
          <a:noFill/>
          <a:ln/>
        </p:spPr>
        <p:txBody>
          <a:bodyPr wrap="square" lIns="0" tIns="0" rIns="0" bIns="0" rtlCol="0" anchor="t"/>
          <a:lstStyle/>
          <a:p>
            <a:pPr marL="0" indent="0">
              <a:buNone/>
            </a:pPr>
            <a:r>
              <a:rPr lang="en-US" sz="1500" i="1" dirty="0">
                <a:solidFill>
                  <a:schemeClr val="accent4"/>
                </a:solidFill>
              </a:rPr>
              <a:t>Accuracy differences sit inside the noise in every setting. TabNet adds built-in feature attention, at a much higher training cost.</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Same pipeline, two datasets</a:t>
            </a:r>
            <a:endParaRPr lang="en-US" sz="3400" dirty="0"/>
          </a:p>
        </p:txBody>
      </p:sp>
      <p:sp>
        <p:nvSpPr>
          <p:cNvPr id="3" name="compare-0"/>
          <p:cNvSpPr/>
          <p:nvPr/>
        </p:nvSpPr>
        <p:spPr>
          <a:xfrm>
            <a:off x="548640" y="1417320"/>
            <a:ext cx="5364328" cy="3566160"/>
          </a:xfrm>
          <a:prstGeom prst="roundRect">
            <a:avLst>
              <a:gd name="adj" fmla="val 2051"/>
            </a:avLst>
          </a:prstGeom>
          <a:solidFill>
            <a:schemeClr val="bg2"/>
          </a:solidFill>
          <a:ln/>
        </p:spPr>
        <p:txBody>
          <a:bodyPr/>
          <a:lstStyle/>
          <a:p>
            <a:endParaRPr/>
          </a:p>
        </p:txBody>
      </p:sp>
      <p:sp>
        <p:nvSpPr>
          <p:cNvPr id="4" name="Text 2"/>
          <p:cNvSpPr txBox="1"/>
          <p:nvPr/>
        </p:nvSpPr>
        <p:spPr>
          <a:xfrm>
            <a:off x="914400" y="1645920"/>
            <a:ext cx="4632808" cy="411480"/>
          </a:xfrm>
          <a:prstGeom prst="rect">
            <a:avLst/>
          </a:prstGeom>
          <a:noFill/>
          <a:ln/>
        </p:spPr>
        <p:txBody>
          <a:bodyPr wrap="square" lIns="0" tIns="0" rIns="0" bIns="0" rtlCol="0" anchor="t"/>
          <a:lstStyle/>
          <a:p>
            <a:pPr marL="0" indent="0">
              <a:buNone/>
            </a:pPr>
            <a:r>
              <a:rPr lang="en-US" sz="2000" b="1" dirty="0">
                <a:solidFill>
                  <a:schemeClr val="tx2"/>
                </a:solidFill>
              </a:rPr>
              <a:t>A · Original CRM data</a:t>
            </a:r>
            <a:endParaRPr lang="en-US" sz="2000" dirty="0"/>
          </a:p>
        </p:txBody>
      </p:sp>
      <p:sp>
        <p:nvSpPr>
          <p:cNvPr id="5" name="Text 3"/>
          <p:cNvSpPr txBox="1"/>
          <p:nvPr/>
        </p:nvSpPr>
        <p:spPr>
          <a:xfrm>
            <a:off x="914400" y="2148840"/>
            <a:ext cx="4632808" cy="1097280"/>
          </a:xfrm>
          <a:prstGeom prst="rect">
            <a:avLst/>
          </a:prstGeom>
          <a:noFill/>
          <a:ln/>
        </p:spPr>
        <p:txBody>
          <a:bodyPr wrap="square" lIns="0" tIns="0" rIns="0" bIns="0" rtlCol="0" anchor="ctr"/>
          <a:lstStyle/>
          <a:p>
            <a:pPr marL="0" indent="0">
              <a:buNone/>
            </a:pPr>
            <a:r>
              <a:rPr lang="en-US" sz="7200" b="1" dirty="0">
                <a:solidFill>
                  <a:schemeClr val="accent3"/>
                </a:solidFill>
                <a:latin typeface="Cambria" pitchFamily="34" charset="0"/>
                <a:ea typeface="Cambria" pitchFamily="34" charset="-122"/>
                <a:cs typeface="Cambria" pitchFamily="34" charset="-120"/>
              </a:rPr>
              <a:t>0.524</a:t>
            </a:r>
            <a:endParaRPr lang="en-US" sz="7200" dirty="0"/>
          </a:p>
        </p:txBody>
      </p:sp>
      <p:sp>
        <p:nvSpPr>
          <p:cNvPr id="6" name="Text 4"/>
          <p:cNvSpPr txBox="1"/>
          <p:nvPr/>
        </p:nvSpPr>
        <p:spPr>
          <a:xfrm>
            <a:off x="914400" y="3291840"/>
            <a:ext cx="4632808" cy="320040"/>
          </a:xfrm>
          <a:prstGeom prst="rect">
            <a:avLst/>
          </a:prstGeom>
          <a:noFill/>
          <a:ln/>
        </p:spPr>
        <p:txBody>
          <a:bodyPr wrap="square" lIns="0" tIns="0" rIns="0" bIns="0" rtlCol="0" anchor="t"/>
          <a:lstStyle/>
          <a:p>
            <a:pPr marL="0" indent="0">
              <a:buNone/>
            </a:pPr>
            <a:r>
              <a:rPr lang="en-US" sz="1400" dirty="0">
                <a:solidFill>
                  <a:schemeClr val="accent4"/>
                </a:solidFill>
              </a:rPr>
              <a:t>best test ROC-AUC: about the same as random</a:t>
            </a:r>
            <a:endParaRPr lang="en-US" sz="1400" dirty="0"/>
          </a:p>
        </p:txBody>
      </p:sp>
      <p:sp>
        <p:nvSpPr>
          <p:cNvPr id="7" name="Text 5"/>
          <p:cNvSpPr txBox="1"/>
          <p:nvPr/>
        </p:nvSpPr>
        <p:spPr>
          <a:xfrm>
            <a:off x="914400" y="3794760"/>
            <a:ext cx="4632808" cy="822960"/>
          </a:xfrm>
          <a:prstGeom prst="rect">
            <a:avLst/>
          </a:prstGeom>
          <a:noFill/>
          <a:ln/>
        </p:spPr>
        <p:txBody>
          <a:bodyPr wrap="square" lIns="0" tIns="0" rIns="0" bIns="0" rtlCol="0" anchor="t"/>
          <a:lstStyle/>
          <a:p>
            <a:pPr marL="0" indent="0">
              <a:buNone/>
            </a:pPr>
            <a:r>
              <a:rPr lang="en-US" sz="1600" dirty="0">
                <a:solidFill>
                  <a:schemeClr val="tx1"/>
                </a:solidFill>
              </a:rPr>
              <a:t>The available features carry almost no signal about Won or Lost.</a:t>
            </a:r>
            <a:endParaRPr lang="en-US" sz="1600" dirty="0"/>
          </a:p>
        </p:txBody>
      </p:sp>
      <p:sp>
        <p:nvSpPr>
          <p:cNvPr id="8" name="compare-1"/>
          <p:cNvSpPr/>
          <p:nvPr/>
        </p:nvSpPr>
        <p:spPr>
          <a:xfrm>
            <a:off x="6278728" y="1417320"/>
            <a:ext cx="5364328" cy="3566160"/>
          </a:xfrm>
          <a:prstGeom prst="roundRect">
            <a:avLst>
              <a:gd name="adj" fmla="val 2051"/>
            </a:avLst>
          </a:prstGeom>
          <a:solidFill>
            <a:schemeClr val="bg2"/>
          </a:solidFill>
          <a:ln/>
        </p:spPr>
        <p:txBody>
          <a:bodyPr/>
          <a:lstStyle/>
          <a:p>
            <a:endParaRPr/>
          </a:p>
        </p:txBody>
      </p:sp>
      <p:sp>
        <p:nvSpPr>
          <p:cNvPr id="9" name="Text 7"/>
          <p:cNvSpPr txBox="1"/>
          <p:nvPr/>
        </p:nvSpPr>
        <p:spPr>
          <a:xfrm>
            <a:off x="6644488" y="1645920"/>
            <a:ext cx="4632808" cy="411480"/>
          </a:xfrm>
          <a:prstGeom prst="rect">
            <a:avLst/>
          </a:prstGeom>
          <a:noFill/>
          <a:ln/>
        </p:spPr>
        <p:txBody>
          <a:bodyPr wrap="square" lIns="0" tIns="0" rIns="0" bIns="0" rtlCol="0" anchor="t"/>
          <a:lstStyle/>
          <a:p>
            <a:pPr marL="0" indent="0">
              <a:buNone/>
            </a:pPr>
            <a:r>
              <a:rPr lang="en-US" sz="2000" b="1" dirty="0">
                <a:solidFill>
                  <a:schemeClr val="tx2"/>
                </a:solidFill>
              </a:rPr>
              <a:t>B · Simulated data</a:t>
            </a:r>
            <a:endParaRPr lang="en-US" sz="2000" dirty="0"/>
          </a:p>
        </p:txBody>
      </p:sp>
      <p:sp>
        <p:nvSpPr>
          <p:cNvPr id="10" name="Text 8"/>
          <p:cNvSpPr txBox="1"/>
          <p:nvPr/>
        </p:nvSpPr>
        <p:spPr>
          <a:xfrm>
            <a:off x="6644488" y="2148840"/>
            <a:ext cx="4632808" cy="1097280"/>
          </a:xfrm>
          <a:prstGeom prst="rect">
            <a:avLst/>
          </a:prstGeom>
          <a:noFill/>
          <a:ln/>
        </p:spPr>
        <p:txBody>
          <a:bodyPr wrap="square" lIns="0" tIns="0" rIns="0" bIns="0" rtlCol="0" anchor="ctr"/>
          <a:lstStyle/>
          <a:p>
            <a:pPr marL="0" indent="0">
              <a:buNone/>
            </a:pPr>
            <a:r>
              <a:rPr lang="en-US" sz="7200" b="1" dirty="0">
                <a:solidFill>
                  <a:schemeClr val="accent1"/>
                </a:solidFill>
                <a:latin typeface="Cambria" pitchFamily="34" charset="0"/>
                <a:ea typeface="Cambria" pitchFamily="34" charset="-122"/>
                <a:cs typeface="Cambria" pitchFamily="34" charset="-120"/>
              </a:rPr>
              <a:t>0.869</a:t>
            </a:r>
            <a:endParaRPr lang="en-US" sz="7200" dirty="0"/>
          </a:p>
        </p:txBody>
      </p:sp>
      <p:sp>
        <p:nvSpPr>
          <p:cNvPr id="11" name="Text 9"/>
          <p:cNvSpPr txBox="1"/>
          <p:nvPr/>
        </p:nvSpPr>
        <p:spPr>
          <a:xfrm>
            <a:off x="6644488" y="3291840"/>
            <a:ext cx="4632808" cy="320040"/>
          </a:xfrm>
          <a:prstGeom prst="rect">
            <a:avLst/>
          </a:prstGeom>
          <a:noFill/>
          <a:ln/>
        </p:spPr>
        <p:txBody>
          <a:bodyPr wrap="square" lIns="0" tIns="0" rIns="0" bIns="0" rtlCol="0" anchor="t"/>
          <a:lstStyle/>
          <a:p>
            <a:pPr marL="0" indent="0">
              <a:buNone/>
            </a:pPr>
            <a:r>
              <a:rPr lang="en-US" sz="1400" dirty="0">
                <a:solidFill>
                  <a:schemeClr val="accent4"/>
                </a:solidFill>
              </a:rPr>
              <a:t>best test ROC-AUC (oracle 0.878)</a:t>
            </a:r>
            <a:endParaRPr lang="en-US" sz="1400" dirty="0"/>
          </a:p>
        </p:txBody>
      </p:sp>
      <p:sp>
        <p:nvSpPr>
          <p:cNvPr id="12" name="Text 10"/>
          <p:cNvSpPr txBox="1"/>
          <p:nvPr/>
        </p:nvSpPr>
        <p:spPr>
          <a:xfrm>
            <a:off x="6644488" y="3794760"/>
            <a:ext cx="4632808" cy="822960"/>
          </a:xfrm>
          <a:prstGeom prst="rect">
            <a:avLst/>
          </a:prstGeom>
          <a:noFill/>
          <a:ln/>
        </p:spPr>
        <p:txBody>
          <a:bodyPr wrap="square" lIns="0" tIns="0" rIns="0" bIns="0" rtlCol="0" anchor="t"/>
          <a:lstStyle/>
          <a:p>
            <a:pPr marL="0" indent="0">
              <a:buNone/>
            </a:pPr>
            <a:r>
              <a:rPr lang="en-US" sz="1600" dirty="0">
                <a:solidFill>
                  <a:schemeClr val="tx1"/>
                </a:solidFill>
              </a:rPr>
              <a:t>The same pipeline and models do learn when structure exists.</a:t>
            </a:r>
            <a:endParaRPr lang="en-US" sz="1600" dirty="0"/>
          </a:p>
        </p:txBody>
      </p:sp>
      <p:sp>
        <p:nvSpPr>
          <p:cNvPr id="13" name="icon-bg-check"/>
          <p:cNvSpPr/>
          <p:nvPr/>
        </p:nvSpPr>
        <p:spPr>
          <a:xfrm>
            <a:off x="548640" y="5303520"/>
            <a:ext cx="548640" cy="548640"/>
          </a:xfrm>
          <a:prstGeom prst="ellipse">
            <a:avLst/>
          </a:prstGeom>
          <a:solidFill>
            <a:schemeClr val="accent1"/>
          </a:solidFill>
          <a:ln/>
        </p:spPr>
        <p:txBody>
          <a:bodyPr/>
          <a:lstStyle/>
          <a:p>
            <a:endParaRPr/>
          </a:p>
        </p:txBody>
      </p:sp>
      <p:pic>
        <p:nvPicPr>
          <p:cNvPr id="14" name="icon-check" descr="preencoded.png"/>
          <p:cNvPicPr>
            <a:picLocks noChangeAspect="1"/>
          </p:cNvPicPr>
          <p:nvPr/>
        </p:nvPicPr>
        <p:blipFill>
          <a:blip r:embed="rId3"/>
          <a:stretch>
            <a:fillRect/>
          </a:stretch>
        </p:blipFill>
        <p:spPr>
          <a:xfrm>
            <a:off x="685800" y="5440680"/>
            <a:ext cx="274320" cy="274320"/>
          </a:xfrm>
          <a:prstGeom prst="rect">
            <a:avLst/>
          </a:prstGeom>
        </p:spPr>
      </p:pic>
      <p:sp>
        <p:nvSpPr>
          <p:cNvPr id="15" name="Text 12"/>
          <p:cNvSpPr txBox="1"/>
          <p:nvPr/>
        </p:nvSpPr>
        <p:spPr>
          <a:xfrm>
            <a:off x="1280160" y="5230368"/>
            <a:ext cx="10362895" cy="731520"/>
          </a:xfrm>
          <a:prstGeom prst="rect">
            <a:avLst/>
          </a:prstGeom>
          <a:noFill/>
          <a:ln/>
        </p:spPr>
        <p:txBody>
          <a:bodyPr wrap="square" lIns="0" tIns="0" rIns="0" bIns="0" rtlCol="0" anchor="ctr"/>
          <a:lstStyle/>
          <a:p>
            <a:pPr marL="0" indent="0">
              <a:buNone/>
            </a:pPr>
            <a:r>
              <a:rPr lang="en-US" sz="1600" b="1" dirty="0">
                <a:solidFill>
                  <a:schemeClr val="tx2"/>
                </a:solidFill>
              </a:rPr>
              <a:t>The low scores come from the data, not from the pipeline. </a:t>
            </a:r>
            <a:r>
              <a:rPr lang="en-US" sz="1600" dirty="0">
                <a:solidFill>
                  <a:schemeClr val="tx1"/>
                </a:solidFill>
              </a:rPr>
              <a:t>Simulated scores are never real-world performance and are kept out of the reported results.</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What our project adds</a:t>
            </a:r>
            <a:endParaRPr lang="en-US" sz="3400" dirty="0"/>
          </a:p>
        </p:txBody>
      </p:sp>
      <p:sp>
        <p:nvSpPr>
          <p:cNvPr id="3" name="novelty-0"/>
          <p:cNvSpPr/>
          <p:nvPr/>
        </p:nvSpPr>
        <p:spPr>
          <a:xfrm>
            <a:off x="548640" y="1417320"/>
            <a:ext cx="3429000" cy="2011680"/>
          </a:xfrm>
          <a:prstGeom prst="roundRect">
            <a:avLst>
              <a:gd name="adj" fmla="val 3636"/>
            </a:avLst>
          </a:prstGeom>
          <a:solidFill>
            <a:schemeClr val="bg2"/>
          </a:solidFill>
          <a:ln/>
        </p:spPr>
        <p:txBody>
          <a:bodyPr/>
          <a:lstStyle/>
          <a:p>
            <a:endParaRPr/>
          </a:p>
        </p:txBody>
      </p:sp>
      <p:sp>
        <p:nvSpPr>
          <p:cNvPr id="4" name="icon-bg-eye"/>
          <p:cNvSpPr/>
          <p:nvPr/>
        </p:nvSpPr>
        <p:spPr>
          <a:xfrm>
            <a:off x="822960" y="1691640"/>
            <a:ext cx="548640" cy="548640"/>
          </a:xfrm>
          <a:prstGeom prst="ellipse">
            <a:avLst/>
          </a:prstGeom>
          <a:solidFill>
            <a:schemeClr val="accent1"/>
          </a:solidFill>
          <a:ln/>
        </p:spPr>
        <p:txBody>
          <a:bodyPr/>
          <a:lstStyle/>
          <a:p>
            <a:endParaRPr/>
          </a:p>
        </p:txBody>
      </p:sp>
      <p:pic>
        <p:nvPicPr>
          <p:cNvPr id="5" name="icon-eye" descr="preencoded.png"/>
          <p:cNvPicPr>
            <a:picLocks noChangeAspect="1"/>
          </p:cNvPicPr>
          <p:nvPr/>
        </p:nvPicPr>
        <p:blipFill>
          <a:blip r:embed="rId3"/>
          <a:stretch>
            <a:fillRect/>
          </a:stretch>
        </p:blipFill>
        <p:spPr>
          <a:xfrm>
            <a:off x="960120" y="1828800"/>
            <a:ext cx="274320" cy="274320"/>
          </a:xfrm>
          <a:prstGeom prst="rect">
            <a:avLst/>
          </a:prstGeom>
        </p:spPr>
      </p:pic>
      <p:sp>
        <p:nvSpPr>
          <p:cNvPr id="6" name="Text 3"/>
          <p:cNvSpPr txBox="1"/>
          <p:nvPr/>
        </p:nvSpPr>
        <p:spPr>
          <a:xfrm>
            <a:off x="1508760" y="1691640"/>
            <a:ext cx="2286000" cy="548640"/>
          </a:xfrm>
          <a:prstGeom prst="rect">
            <a:avLst/>
          </a:prstGeom>
          <a:noFill/>
          <a:ln/>
        </p:spPr>
        <p:txBody>
          <a:bodyPr wrap="square" lIns="0" tIns="0" rIns="0" bIns="0" rtlCol="0" anchor="ctr"/>
          <a:lstStyle/>
          <a:p>
            <a:pPr marL="0" indent="0">
              <a:buNone/>
            </a:pPr>
            <a:r>
              <a:rPr lang="en-US" sz="1700" b="1" dirty="0">
                <a:solidFill>
                  <a:schemeClr val="tx2"/>
                </a:solidFill>
              </a:rPr>
              <a:t>Prediction plus explanation</a:t>
            </a:r>
            <a:endParaRPr lang="en-US" sz="1700" dirty="0"/>
          </a:p>
        </p:txBody>
      </p:sp>
      <p:sp>
        <p:nvSpPr>
          <p:cNvPr id="7" name="Text 4"/>
          <p:cNvSpPr txBox="1"/>
          <p:nvPr/>
        </p:nvSpPr>
        <p:spPr>
          <a:xfrm>
            <a:off x="822960" y="2423160"/>
            <a:ext cx="2880360" cy="868680"/>
          </a:xfrm>
          <a:prstGeom prst="rect">
            <a:avLst/>
          </a:prstGeom>
          <a:noFill/>
          <a:ln/>
        </p:spPr>
        <p:txBody>
          <a:bodyPr wrap="square" lIns="0" tIns="0" rIns="0" bIns="0" rtlCol="0" anchor="t"/>
          <a:lstStyle/>
          <a:p>
            <a:pPr marL="0" indent="0">
              <a:buNone/>
            </a:pPr>
            <a:r>
              <a:rPr lang="en-US" sz="1400" dirty="0">
                <a:solidFill>
                  <a:schemeClr val="tx1"/>
                </a:solidFill>
              </a:rPr>
              <a:t>P(Won) per deal; its top factors move the score 3.1× more than random ones</a:t>
            </a:r>
            <a:endParaRPr lang="en-US" sz="1400" dirty="0"/>
          </a:p>
        </p:txBody>
      </p:sp>
      <p:sp>
        <p:nvSpPr>
          <p:cNvPr id="13" name="novelty-2"/>
          <p:cNvSpPr/>
          <p:nvPr/>
        </p:nvSpPr>
        <p:spPr>
          <a:xfrm>
            <a:off x="4379976" y="1417320"/>
            <a:ext cx="3429000" cy="2011680"/>
          </a:xfrm>
          <a:prstGeom prst="roundRect">
            <a:avLst>
              <a:gd name="adj" fmla="val 3636"/>
            </a:avLst>
          </a:prstGeom>
          <a:solidFill>
            <a:schemeClr val="bg2"/>
          </a:solidFill>
          <a:ln/>
        </p:spPr>
        <p:txBody>
          <a:bodyPr/>
          <a:lstStyle/>
          <a:p>
            <a:endParaRPr/>
          </a:p>
        </p:txBody>
      </p:sp>
      <p:sp>
        <p:nvSpPr>
          <p:cNvPr id="14" name="icon-bg-clock"/>
          <p:cNvSpPr/>
          <p:nvPr/>
        </p:nvSpPr>
        <p:spPr>
          <a:xfrm>
            <a:off x="4654296" y="1691640"/>
            <a:ext cx="548640" cy="548640"/>
          </a:xfrm>
          <a:prstGeom prst="ellipse">
            <a:avLst/>
          </a:prstGeom>
          <a:solidFill>
            <a:schemeClr val="accent1"/>
          </a:solidFill>
          <a:ln/>
        </p:spPr>
        <p:txBody>
          <a:bodyPr/>
          <a:lstStyle/>
          <a:p>
            <a:endParaRPr/>
          </a:p>
        </p:txBody>
      </p:sp>
      <p:pic>
        <p:nvPicPr>
          <p:cNvPr id="15" name="icon-clock" descr="preencoded.png"/>
          <p:cNvPicPr>
            <a:picLocks noChangeAspect="1"/>
          </p:cNvPicPr>
          <p:nvPr/>
        </p:nvPicPr>
        <p:blipFill>
          <a:blip r:embed="rId4"/>
          <a:stretch>
            <a:fillRect/>
          </a:stretch>
        </p:blipFill>
        <p:spPr>
          <a:xfrm>
            <a:off x="4791456" y="1828800"/>
            <a:ext cx="274320" cy="274320"/>
          </a:xfrm>
          <a:prstGeom prst="rect">
            <a:avLst/>
          </a:prstGeom>
        </p:spPr>
      </p:pic>
      <p:sp>
        <p:nvSpPr>
          <p:cNvPr id="16" name="Text 11"/>
          <p:cNvSpPr txBox="1"/>
          <p:nvPr/>
        </p:nvSpPr>
        <p:spPr>
          <a:xfrm>
            <a:off x="5340096" y="1691640"/>
            <a:ext cx="2286000" cy="548640"/>
          </a:xfrm>
          <a:prstGeom prst="rect">
            <a:avLst/>
          </a:prstGeom>
          <a:noFill/>
          <a:ln/>
        </p:spPr>
        <p:txBody>
          <a:bodyPr wrap="square" lIns="0" tIns="0" rIns="0" bIns="0" rtlCol="0" anchor="ctr"/>
          <a:lstStyle/>
          <a:p>
            <a:pPr marL="0" indent="0">
              <a:buNone/>
            </a:pPr>
            <a:r>
              <a:rPr lang="en-US" sz="1700" b="1" dirty="0">
                <a:solidFill>
                  <a:schemeClr val="tx2"/>
                </a:solidFill>
              </a:rPr>
              <a:t>Label-availability split</a:t>
            </a:r>
            <a:endParaRPr lang="en-US" sz="1700" dirty="0"/>
          </a:p>
        </p:txBody>
      </p:sp>
      <p:sp>
        <p:nvSpPr>
          <p:cNvPr id="17" name="Text 12"/>
          <p:cNvSpPr txBox="1"/>
          <p:nvPr/>
        </p:nvSpPr>
        <p:spPr>
          <a:xfrm>
            <a:off x="4654296" y="2423160"/>
            <a:ext cx="2880360" cy="868680"/>
          </a:xfrm>
          <a:prstGeom prst="rect">
            <a:avLst/>
          </a:prstGeom>
          <a:noFill/>
          <a:ln/>
        </p:spPr>
        <p:txBody>
          <a:bodyPr wrap="square" lIns="0" tIns="0" rIns="0" bIns="0" rtlCol="0" anchor="t"/>
          <a:lstStyle/>
          <a:p>
            <a:pPr marL="0" indent="0">
              <a:buNone/>
            </a:pPr>
            <a:r>
              <a:rPr lang="en-US" sz="1400" dirty="0">
                <a:solidFill>
                  <a:schemeClr val="tx1"/>
                </a:solidFill>
              </a:rPr>
              <a:t>Train only on known outcomes; a random split adds at most 0.04 AUC</a:t>
            </a:r>
            <a:endParaRPr lang="en-US" sz="1400" dirty="0"/>
          </a:p>
        </p:txBody>
      </p:sp>
      <p:sp>
        <p:nvSpPr>
          <p:cNvPr id="18" name="novelty-3"/>
          <p:cNvSpPr/>
          <p:nvPr/>
        </p:nvSpPr>
        <p:spPr>
          <a:xfrm>
            <a:off x="8211312" y="1417320"/>
            <a:ext cx="3429000" cy="2011680"/>
          </a:xfrm>
          <a:prstGeom prst="roundRect">
            <a:avLst>
              <a:gd name="adj" fmla="val 3636"/>
            </a:avLst>
          </a:prstGeom>
          <a:solidFill>
            <a:schemeClr val="bg2"/>
          </a:solidFill>
          <a:ln/>
        </p:spPr>
        <p:txBody>
          <a:bodyPr/>
          <a:lstStyle/>
          <a:p>
            <a:endParaRPr/>
          </a:p>
        </p:txBody>
      </p:sp>
      <p:sp>
        <p:nvSpPr>
          <p:cNvPr id="19" name="icon-bg-warn"/>
          <p:cNvSpPr/>
          <p:nvPr/>
        </p:nvSpPr>
        <p:spPr>
          <a:xfrm>
            <a:off x="8485632" y="1691640"/>
            <a:ext cx="548640" cy="548640"/>
          </a:xfrm>
          <a:prstGeom prst="ellipse">
            <a:avLst/>
          </a:prstGeom>
          <a:solidFill>
            <a:schemeClr val="accent1"/>
          </a:solidFill>
          <a:ln/>
        </p:spPr>
        <p:txBody>
          <a:bodyPr/>
          <a:lstStyle/>
          <a:p>
            <a:endParaRPr/>
          </a:p>
        </p:txBody>
      </p:sp>
      <p:pic>
        <p:nvPicPr>
          <p:cNvPr id="20" name="icon-warn" descr="preencoded.png"/>
          <p:cNvPicPr>
            <a:picLocks noChangeAspect="1"/>
          </p:cNvPicPr>
          <p:nvPr/>
        </p:nvPicPr>
        <p:blipFill>
          <a:blip r:embed="rId5"/>
          <a:stretch>
            <a:fillRect/>
          </a:stretch>
        </p:blipFill>
        <p:spPr>
          <a:xfrm>
            <a:off x="8622792" y="1828800"/>
            <a:ext cx="274320" cy="274320"/>
          </a:xfrm>
          <a:prstGeom prst="rect">
            <a:avLst/>
          </a:prstGeom>
        </p:spPr>
      </p:pic>
      <p:sp>
        <p:nvSpPr>
          <p:cNvPr id="21" name="Text 15"/>
          <p:cNvSpPr txBox="1"/>
          <p:nvPr/>
        </p:nvSpPr>
        <p:spPr>
          <a:xfrm>
            <a:off x="9171432" y="1691640"/>
            <a:ext cx="2286000" cy="548640"/>
          </a:xfrm>
          <a:prstGeom prst="rect">
            <a:avLst/>
          </a:prstGeom>
          <a:noFill/>
          <a:ln/>
        </p:spPr>
        <p:txBody>
          <a:bodyPr wrap="square" lIns="0" tIns="0" rIns="0" bIns="0" rtlCol="0" anchor="ctr"/>
          <a:lstStyle/>
          <a:p>
            <a:pPr marL="0" indent="0">
              <a:buNone/>
            </a:pPr>
            <a:r>
              <a:rPr lang="en-US" sz="1700" b="1" dirty="0">
                <a:solidFill>
                  <a:schemeClr val="tx2"/>
                </a:solidFill>
              </a:rPr>
              <a:t>Input warnings</a:t>
            </a:r>
            <a:endParaRPr lang="en-US" sz="1700" dirty="0"/>
          </a:p>
        </p:txBody>
      </p:sp>
      <p:sp>
        <p:nvSpPr>
          <p:cNvPr id="22" name="Text 16"/>
          <p:cNvSpPr txBox="1"/>
          <p:nvPr/>
        </p:nvSpPr>
        <p:spPr>
          <a:xfrm>
            <a:off x="8485632" y="2423160"/>
            <a:ext cx="2880360" cy="868680"/>
          </a:xfrm>
          <a:prstGeom prst="rect">
            <a:avLst/>
          </a:prstGeom>
          <a:noFill/>
          <a:ln/>
        </p:spPr>
        <p:txBody>
          <a:bodyPr wrap="square" lIns="0" tIns="0" rIns="0" bIns="0" rtlCol="0" anchor="t"/>
          <a:lstStyle/>
          <a:p>
            <a:pPr marL="0" indent="0">
              <a:buNone/>
            </a:pPr>
            <a:r>
              <a:rPr lang="en-US" sz="1400" dirty="0">
                <a:solidFill>
                  <a:schemeClr val="tx1"/>
                </a:solidFill>
              </a:rPr>
              <a:t>1,088 of 1,589 open-deal scores flagged for a missing account</a:t>
            </a:r>
            <a:endParaRPr lang="en-US" sz="1400" dirty="0"/>
          </a:p>
        </p:txBody>
      </p:sp>
      <p:sp>
        <p:nvSpPr>
          <p:cNvPr id="23" name="novelty-4"/>
          <p:cNvSpPr/>
          <p:nvPr/>
        </p:nvSpPr>
        <p:spPr>
          <a:xfrm>
            <a:off x="2468880" y="3703320"/>
            <a:ext cx="3429000" cy="2011680"/>
          </a:xfrm>
          <a:prstGeom prst="roundRect">
            <a:avLst>
              <a:gd name="adj" fmla="val 3636"/>
            </a:avLst>
          </a:prstGeom>
          <a:solidFill>
            <a:schemeClr val="bg2"/>
          </a:solidFill>
          <a:ln/>
        </p:spPr>
        <p:txBody>
          <a:bodyPr/>
          <a:lstStyle/>
          <a:p>
            <a:endParaRPr/>
          </a:p>
        </p:txBody>
      </p:sp>
      <p:sp>
        <p:nvSpPr>
          <p:cNvPr id="24" name="icon-bg-flask"/>
          <p:cNvSpPr/>
          <p:nvPr/>
        </p:nvSpPr>
        <p:spPr>
          <a:xfrm>
            <a:off x="2743200" y="3977640"/>
            <a:ext cx="548640" cy="548640"/>
          </a:xfrm>
          <a:prstGeom prst="ellipse">
            <a:avLst/>
          </a:prstGeom>
          <a:solidFill>
            <a:schemeClr val="accent1"/>
          </a:solidFill>
          <a:ln/>
        </p:spPr>
        <p:txBody>
          <a:bodyPr/>
          <a:lstStyle/>
          <a:p>
            <a:endParaRPr/>
          </a:p>
        </p:txBody>
      </p:sp>
      <p:pic>
        <p:nvPicPr>
          <p:cNvPr id="25" name="icon-flask" descr="preencoded.png"/>
          <p:cNvPicPr>
            <a:picLocks noChangeAspect="1"/>
          </p:cNvPicPr>
          <p:nvPr/>
        </p:nvPicPr>
        <p:blipFill>
          <a:blip r:embed="rId6"/>
          <a:stretch>
            <a:fillRect/>
          </a:stretch>
        </p:blipFill>
        <p:spPr>
          <a:xfrm>
            <a:off x="2880360" y="4114800"/>
            <a:ext cx="274320" cy="274320"/>
          </a:xfrm>
          <a:prstGeom prst="rect">
            <a:avLst/>
          </a:prstGeom>
        </p:spPr>
      </p:pic>
      <p:sp>
        <p:nvSpPr>
          <p:cNvPr id="26" name="Text 19"/>
          <p:cNvSpPr txBox="1"/>
          <p:nvPr/>
        </p:nvSpPr>
        <p:spPr>
          <a:xfrm>
            <a:off x="3429000" y="3977640"/>
            <a:ext cx="2286000" cy="548640"/>
          </a:xfrm>
          <a:prstGeom prst="rect">
            <a:avLst/>
          </a:prstGeom>
          <a:noFill/>
          <a:ln/>
        </p:spPr>
        <p:txBody>
          <a:bodyPr wrap="square" lIns="0" tIns="0" rIns="0" bIns="0" rtlCol="0" anchor="ctr"/>
          <a:lstStyle/>
          <a:p>
            <a:pPr marL="0" indent="0">
              <a:buNone/>
            </a:pPr>
            <a:r>
              <a:rPr lang="en-US" sz="1700" b="1" dirty="0">
                <a:solidFill>
                  <a:schemeClr val="tx2"/>
                </a:solidFill>
              </a:rPr>
              <a:t>Known-truth simulation</a:t>
            </a:r>
            <a:endParaRPr lang="en-US" sz="1700" dirty="0"/>
          </a:p>
        </p:txBody>
      </p:sp>
      <p:sp>
        <p:nvSpPr>
          <p:cNvPr id="27" name="Text 20"/>
          <p:cNvSpPr txBox="1"/>
          <p:nvPr/>
        </p:nvSpPr>
        <p:spPr>
          <a:xfrm>
            <a:off x="2743200" y="4709160"/>
            <a:ext cx="2880360" cy="868680"/>
          </a:xfrm>
          <a:prstGeom prst="rect">
            <a:avLst/>
          </a:prstGeom>
          <a:noFill/>
          <a:ln/>
        </p:spPr>
        <p:txBody>
          <a:bodyPr wrap="square" lIns="0" tIns="0" rIns="0" bIns="0" rtlCol="0" anchor="t"/>
          <a:lstStyle/>
          <a:p>
            <a:pPr marL="0" indent="0">
              <a:buNone/>
            </a:pPr>
            <a:r>
              <a:rPr lang="en-US" sz="1400" dirty="0">
                <a:solidFill>
                  <a:schemeClr val="tx1"/>
                </a:solidFill>
              </a:rPr>
              <a:t>Pipeline reaches 0.869 vs an oracle of 0.878 when signal exists</a:t>
            </a:r>
            <a:endParaRPr lang="en-US" sz="1400" dirty="0"/>
          </a:p>
        </p:txBody>
      </p:sp>
      <p:sp>
        <p:nvSpPr>
          <p:cNvPr id="28" name="novelty-5"/>
          <p:cNvSpPr/>
          <p:nvPr/>
        </p:nvSpPr>
        <p:spPr>
          <a:xfrm>
            <a:off x="6300216" y="3703320"/>
            <a:ext cx="3429000" cy="2011680"/>
          </a:xfrm>
          <a:prstGeom prst="roundRect">
            <a:avLst>
              <a:gd name="adj" fmla="val 3636"/>
            </a:avLst>
          </a:prstGeom>
          <a:solidFill>
            <a:schemeClr val="bg2"/>
          </a:solidFill>
          <a:ln/>
        </p:spPr>
        <p:txBody>
          <a:bodyPr/>
          <a:lstStyle/>
          <a:p>
            <a:endParaRPr/>
          </a:p>
        </p:txBody>
      </p:sp>
      <p:sp>
        <p:nvSpPr>
          <p:cNvPr id="29" name="icon-bg-cogs"/>
          <p:cNvSpPr/>
          <p:nvPr/>
        </p:nvSpPr>
        <p:spPr>
          <a:xfrm>
            <a:off x="6574536" y="3977640"/>
            <a:ext cx="548640" cy="548640"/>
          </a:xfrm>
          <a:prstGeom prst="ellipse">
            <a:avLst/>
          </a:prstGeom>
          <a:solidFill>
            <a:schemeClr val="accent1"/>
          </a:solidFill>
          <a:ln/>
        </p:spPr>
        <p:txBody>
          <a:bodyPr/>
          <a:lstStyle/>
          <a:p>
            <a:endParaRPr/>
          </a:p>
        </p:txBody>
      </p:sp>
      <p:pic>
        <p:nvPicPr>
          <p:cNvPr id="30" name="icon-cogs" descr="preencoded.png"/>
          <p:cNvPicPr>
            <a:picLocks noChangeAspect="1"/>
          </p:cNvPicPr>
          <p:nvPr/>
        </p:nvPicPr>
        <p:blipFill>
          <a:blip r:embed="rId7"/>
          <a:stretch>
            <a:fillRect/>
          </a:stretch>
        </p:blipFill>
        <p:spPr>
          <a:xfrm>
            <a:off x="6711696" y="4114800"/>
            <a:ext cx="274320" cy="274320"/>
          </a:xfrm>
          <a:prstGeom prst="rect">
            <a:avLst/>
          </a:prstGeom>
        </p:spPr>
      </p:pic>
      <p:sp>
        <p:nvSpPr>
          <p:cNvPr id="31" name="Text 23"/>
          <p:cNvSpPr txBox="1"/>
          <p:nvPr/>
        </p:nvSpPr>
        <p:spPr>
          <a:xfrm>
            <a:off x="7260336" y="3977640"/>
            <a:ext cx="2286000" cy="548640"/>
          </a:xfrm>
          <a:prstGeom prst="rect">
            <a:avLst/>
          </a:prstGeom>
          <a:noFill/>
          <a:ln/>
        </p:spPr>
        <p:txBody>
          <a:bodyPr wrap="square" lIns="0" tIns="0" rIns="0" bIns="0" rtlCol="0" anchor="ctr"/>
          <a:lstStyle/>
          <a:p>
            <a:pPr marL="0" indent="0">
              <a:buNone/>
            </a:pPr>
            <a:r>
              <a:rPr lang="en-US" sz="1700" b="1" dirty="0">
                <a:solidFill>
                  <a:schemeClr val="tx2"/>
                </a:solidFill>
              </a:rPr>
              <a:t>Reproducible on CPU</a:t>
            </a:r>
            <a:endParaRPr lang="en-US" sz="1700" dirty="0"/>
          </a:p>
        </p:txBody>
      </p:sp>
      <p:sp>
        <p:nvSpPr>
          <p:cNvPr id="32" name="Text 24"/>
          <p:cNvSpPr txBox="1"/>
          <p:nvPr/>
        </p:nvSpPr>
        <p:spPr>
          <a:xfrm>
            <a:off x="6574536" y="4709160"/>
            <a:ext cx="2880360" cy="868680"/>
          </a:xfrm>
          <a:prstGeom prst="rect">
            <a:avLst/>
          </a:prstGeom>
          <a:noFill/>
          <a:ln/>
        </p:spPr>
        <p:txBody>
          <a:bodyPr wrap="square" lIns="0" tIns="0" rIns="0" bIns="0" rtlCol="0" anchor="t"/>
          <a:lstStyle/>
          <a:p>
            <a:pPr marL="0" indent="0">
              <a:buNone/>
            </a:pPr>
            <a:r>
              <a:rPr lang="en-US" sz="1400" dirty="0">
                <a:solidFill>
                  <a:schemeClr val="tx1"/>
                </a:solidFill>
              </a:rPr>
              <a:t>Separate train, evaluate and predict steps, as commands or step-by-step notebooks</a:t>
            </a:r>
            <a:endParaRPr lang="en-US" sz="1400" dirty="0"/>
          </a:p>
        </p:txBody>
      </p:sp>
      <p:sp>
        <p:nvSpPr>
          <p:cNvPr id="8"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Limitations and future work</a:t>
            </a:r>
            <a:endParaRPr lang="en-US" sz="3400" dirty="0"/>
          </a:p>
        </p:txBody>
      </p:sp>
      <p:sp>
        <p:nvSpPr>
          <p:cNvPr id="3" name="icon-bg-warn"/>
          <p:cNvSpPr/>
          <p:nvPr/>
        </p:nvSpPr>
        <p:spPr>
          <a:xfrm>
            <a:off x="548640" y="1417320"/>
            <a:ext cx="548640" cy="548640"/>
          </a:xfrm>
          <a:prstGeom prst="ellipse">
            <a:avLst/>
          </a:prstGeom>
          <a:solidFill>
            <a:schemeClr val="accent3"/>
          </a:solidFill>
          <a:ln/>
        </p:spPr>
        <p:txBody>
          <a:bodyPr/>
          <a:lstStyle/>
          <a:p>
            <a:endParaRPr/>
          </a:p>
        </p:txBody>
      </p:sp>
      <p:pic>
        <p:nvPicPr>
          <p:cNvPr id="4" name="icon-warn" descr="preencoded.png"/>
          <p:cNvPicPr>
            <a:picLocks noChangeAspect="1"/>
          </p:cNvPicPr>
          <p:nvPr/>
        </p:nvPicPr>
        <p:blipFill>
          <a:blip r:embed="rId3"/>
          <a:stretch>
            <a:fillRect/>
          </a:stretch>
        </p:blipFill>
        <p:spPr>
          <a:xfrm>
            <a:off x="685800" y="1554480"/>
            <a:ext cx="274320" cy="274320"/>
          </a:xfrm>
          <a:prstGeom prst="rect">
            <a:avLst/>
          </a:prstGeom>
        </p:spPr>
      </p:pic>
      <p:sp>
        <p:nvSpPr>
          <p:cNvPr id="5" name="Text 2"/>
          <p:cNvSpPr txBox="1"/>
          <p:nvPr/>
        </p:nvSpPr>
        <p:spPr>
          <a:xfrm>
            <a:off x="1280160" y="1463040"/>
            <a:ext cx="4587088" cy="457200"/>
          </a:xfrm>
          <a:prstGeom prst="rect">
            <a:avLst/>
          </a:prstGeom>
          <a:noFill/>
          <a:ln/>
        </p:spPr>
        <p:txBody>
          <a:bodyPr wrap="square" lIns="0" tIns="0" rIns="0" bIns="0" rtlCol="0" anchor="ctr"/>
          <a:lstStyle/>
          <a:p>
            <a:pPr marL="0" indent="0">
              <a:buNone/>
            </a:pPr>
            <a:r>
              <a:rPr lang="en-US" sz="2000" b="1" dirty="0">
                <a:solidFill>
                  <a:schemeClr val="tx2"/>
                </a:solidFill>
              </a:rPr>
              <a:t>Limitations</a:t>
            </a:r>
            <a:endParaRPr lang="en-US" sz="2000" dirty="0"/>
          </a:p>
        </p:txBody>
      </p:sp>
      <p:sp>
        <p:nvSpPr>
          <p:cNvPr id="6" name="Text 3"/>
          <p:cNvSpPr txBox="1"/>
          <p:nvPr/>
        </p:nvSpPr>
        <p:spPr>
          <a:xfrm>
            <a:off x="548640" y="2240280"/>
            <a:ext cx="5318608"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Trained on closed deals only: selection bias</a:t>
            </a:r>
            <a:endParaRPr lang="en-US" sz="1500" dirty="0"/>
          </a:p>
          <a:p>
            <a:pPr marL="203200" indent="-203200">
              <a:spcAft>
                <a:spcPts val="800"/>
              </a:spcAft>
              <a:buSzPct val="100000"/>
              <a:buChar char="•"/>
            </a:pPr>
            <a:r>
              <a:rPr lang="en-US" sz="1500" dirty="0">
                <a:solidFill>
                  <a:schemeClr val="tx1"/>
                </a:solidFill>
              </a:rPr>
              <a:t>Validation reused for model, threshold and calibration</a:t>
            </a:r>
            <a:endParaRPr lang="en-US" sz="1500" dirty="0"/>
          </a:p>
          <a:p>
            <a:pPr marL="203200" indent="-203200">
              <a:spcAft>
                <a:spcPts val="800"/>
              </a:spcAft>
              <a:buSzPct val="100000"/>
              <a:buChar char="•"/>
            </a:pPr>
            <a:r>
              <a:rPr lang="en-US" sz="1500" dirty="0">
                <a:solidFill>
                  <a:schemeClr val="tx1"/>
                </a:solidFill>
              </a:rPr>
              <a:t>Account, team and product tables are static snapshots</a:t>
            </a:r>
            <a:endParaRPr lang="en-US" sz="1500" dirty="0"/>
          </a:p>
          <a:p>
            <a:pPr marL="203200" indent="-203200">
              <a:spcAft>
                <a:spcPts val="800"/>
              </a:spcAft>
              <a:buSzPct val="100000"/>
              <a:buChar char="•"/>
            </a:pPr>
            <a:r>
              <a:rPr lang="en-US" sz="1500" dirty="0">
                <a:solidFill>
                  <a:schemeClr val="tx1"/>
                </a:solidFill>
              </a:rPr>
              <a:t>Accounts repeat across periods</a:t>
            </a:r>
            <a:endParaRPr lang="en-US" sz="1500" dirty="0"/>
          </a:p>
          <a:p>
            <a:pPr marL="203200" indent="-203200">
              <a:spcAft>
                <a:spcPts val="800"/>
              </a:spcAft>
              <a:buSzPct val="100000"/>
              <a:buChar char="•"/>
            </a:pPr>
            <a:r>
              <a:rPr lang="en-US" sz="1500" dirty="0">
                <a:solidFill>
                  <a:schemeClr val="tx1"/>
                </a:solidFill>
              </a:rPr>
              <a:t>Data was examined earlier, so the test set is not pristine</a:t>
            </a:r>
            <a:endParaRPr lang="en-US" sz="1500" dirty="0"/>
          </a:p>
          <a:p>
            <a:pPr marL="203200" indent="-203200">
              <a:spcAft>
                <a:spcPts val="800"/>
              </a:spcAft>
              <a:buSzPct val="100000"/>
              <a:buChar char="•"/>
            </a:pPr>
            <a:r>
              <a:rPr lang="en-US" sz="1500" dirty="0">
                <a:solidFill>
                  <a:schemeClr val="tx1"/>
                </a:solidFill>
              </a:rPr>
              <a:t>Simulated win rule is invented: says nothing about real sales</a:t>
            </a:r>
            <a:endParaRPr lang="en-US" sz="1500" dirty="0"/>
          </a:p>
        </p:txBody>
      </p:sp>
      <p:sp>
        <p:nvSpPr>
          <p:cNvPr id="7" name="icon-bg-search"/>
          <p:cNvSpPr/>
          <p:nvPr/>
        </p:nvSpPr>
        <p:spPr>
          <a:xfrm>
            <a:off x="6324448" y="1417320"/>
            <a:ext cx="548640" cy="548640"/>
          </a:xfrm>
          <a:prstGeom prst="ellipse">
            <a:avLst/>
          </a:prstGeom>
          <a:solidFill>
            <a:schemeClr val="accent1"/>
          </a:solidFill>
          <a:ln/>
        </p:spPr>
        <p:txBody>
          <a:bodyPr/>
          <a:lstStyle/>
          <a:p>
            <a:endParaRPr/>
          </a:p>
        </p:txBody>
      </p:sp>
      <p:pic>
        <p:nvPicPr>
          <p:cNvPr id="8" name="icon-search" descr="preencoded.png"/>
          <p:cNvPicPr>
            <a:picLocks noChangeAspect="1"/>
          </p:cNvPicPr>
          <p:nvPr/>
        </p:nvPicPr>
        <p:blipFill>
          <a:blip r:embed="rId4"/>
          <a:stretch>
            <a:fillRect/>
          </a:stretch>
        </p:blipFill>
        <p:spPr>
          <a:xfrm>
            <a:off x="6461608" y="1554480"/>
            <a:ext cx="274320" cy="274320"/>
          </a:xfrm>
          <a:prstGeom prst="rect">
            <a:avLst/>
          </a:prstGeom>
        </p:spPr>
      </p:pic>
      <p:sp>
        <p:nvSpPr>
          <p:cNvPr id="9" name="Text 5"/>
          <p:cNvSpPr txBox="1"/>
          <p:nvPr/>
        </p:nvSpPr>
        <p:spPr>
          <a:xfrm>
            <a:off x="7055968" y="1463040"/>
            <a:ext cx="4587088" cy="457200"/>
          </a:xfrm>
          <a:prstGeom prst="rect">
            <a:avLst/>
          </a:prstGeom>
          <a:noFill/>
          <a:ln/>
        </p:spPr>
        <p:txBody>
          <a:bodyPr wrap="square" lIns="0" tIns="0" rIns="0" bIns="0" rtlCol="0" anchor="ctr"/>
          <a:lstStyle/>
          <a:p>
            <a:pPr marL="0" indent="0">
              <a:buNone/>
            </a:pPr>
            <a:r>
              <a:rPr lang="en-US" sz="2000" b="1" dirty="0">
                <a:solidFill>
                  <a:schemeClr val="tx2"/>
                </a:solidFill>
              </a:rPr>
              <a:t>Future work</a:t>
            </a:r>
            <a:endParaRPr lang="en-US" sz="2000" dirty="0"/>
          </a:p>
        </p:txBody>
      </p:sp>
      <p:sp>
        <p:nvSpPr>
          <p:cNvPr id="10" name="Text 6"/>
          <p:cNvSpPr txBox="1"/>
          <p:nvPr/>
        </p:nvSpPr>
        <p:spPr>
          <a:xfrm>
            <a:off x="6324448" y="2240280"/>
            <a:ext cx="5318608"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Collect engagement signals: calls, emails, response time, budget</a:t>
            </a:r>
            <a:endParaRPr lang="en-US" sz="1500" dirty="0"/>
          </a:p>
          <a:p>
            <a:pPr marL="203200" indent="-203200">
              <a:spcAft>
                <a:spcPts val="800"/>
              </a:spcAft>
              <a:buSzPct val="100000"/>
              <a:buChar char="•"/>
            </a:pPr>
            <a:r>
              <a:rPr lang="en-US" sz="1500" dirty="0">
                <a:solidFill>
                  <a:schemeClr val="tx1"/>
                </a:solidFill>
              </a:rPr>
              <a:t>Score deals as of each historical date</a:t>
            </a:r>
            <a:endParaRPr lang="en-US" sz="1500" dirty="0"/>
          </a:p>
          <a:p>
            <a:pPr marL="203200" indent="-203200">
              <a:spcAft>
                <a:spcPts val="800"/>
              </a:spcAft>
              <a:buSzPct val="100000"/>
              <a:buChar char="•"/>
            </a:pPr>
            <a:r>
              <a:rPr lang="en-US" sz="1500" dirty="0">
                <a:solidFill>
                  <a:schemeClr val="tx1"/>
                </a:solidFill>
              </a:rPr>
              <a:t>Test on accounts never seen in training</a:t>
            </a:r>
            <a:endParaRPr lang="en-US" sz="1500" dirty="0"/>
          </a:p>
          <a:p>
            <a:pPr marL="203200" indent="-203200">
              <a:spcAft>
                <a:spcPts val="800"/>
              </a:spcAft>
              <a:buSzPct val="100000"/>
              <a:buChar char="•"/>
            </a:pPr>
            <a:r>
              <a:rPr lang="en-US" sz="1500" dirty="0">
                <a:solidFill>
                  <a:schemeClr val="tx1"/>
                </a:solidFill>
              </a:rPr>
              <a:t>Validate priority bands with the sales team</a:t>
            </a:r>
            <a:endParaRPr lang="en-US" sz="1500" dirty="0"/>
          </a:p>
          <a:p>
            <a:pPr marL="203200" indent="-203200">
              <a:spcAft>
                <a:spcPts val="800"/>
              </a:spcAft>
              <a:buSzPct val="100000"/>
              <a:buChar char="•"/>
            </a:pPr>
            <a:r>
              <a:rPr lang="en-US" sz="1500" dirty="0">
                <a:solidFill>
                  <a:schemeClr val="tx1"/>
                </a:solidFill>
              </a:rPr>
              <a:t>Train-on-synthetic, test-on-real check with a data-driven generator</a:t>
            </a:r>
            <a:endParaRPr lang="en-US" sz="1500" dirty="0"/>
          </a:p>
        </p:txBody>
      </p:sp>
      <p:sp>
        <p:nvSpPr>
          <p:cNvPr id="11" name="takeaway"/>
          <p:cNvSpPr/>
          <p:nvPr/>
        </p:nvSpPr>
        <p:spPr>
          <a:xfrm>
            <a:off x="548640" y="5074920"/>
            <a:ext cx="11094415" cy="914400"/>
          </a:xfrm>
          <a:prstGeom prst="roundRect">
            <a:avLst>
              <a:gd name="adj" fmla="val 8000"/>
            </a:avLst>
          </a:prstGeom>
          <a:solidFill>
            <a:schemeClr val="bg2"/>
          </a:solidFill>
          <a:ln/>
        </p:spPr>
        <p:txBody>
          <a:bodyPr/>
          <a:lstStyle/>
          <a:p>
            <a:endParaRPr/>
          </a:p>
        </p:txBody>
      </p:sp>
      <p:sp>
        <p:nvSpPr>
          <p:cNvPr id="12" name="icon-bg-check"/>
          <p:cNvSpPr/>
          <p:nvPr/>
        </p:nvSpPr>
        <p:spPr>
          <a:xfrm>
            <a:off x="777240" y="5257800"/>
            <a:ext cx="548640" cy="548640"/>
          </a:xfrm>
          <a:prstGeom prst="ellipse">
            <a:avLst/>
          </a:prstGeom>
          <a:solidFill>
            <a:schemeClr val="accent1"/>
          </a:solidFill>
          <a:ln/>
        </p:spPr>
        <p:txBody>
          <a:bodyPr/>
          <a:lstStyle/>
          <a:p>
            <a:endParaRPr/>
          </a:p>
        </p:txBody>
      </p:sp>
      <p:pic>
        <p:nvPicPr>
          <p:cNvPr id="13" name="icon-check" descr="preencoded.png"/>
          <p:cNvPicPr>
            <a:picLocks noChangeAspect="1"/>
          </p:cNvPicPr>
          <p:nvPr/>
        </p:nvPicPr>
        <p:blipFill>
          <a:blip r:embed="rId5"/>
          <a:stretch>
            <a:fillRect/>
          </a:stretch>
        </p:blipFill>
        <p:spPr>
          <a:xfrm>
            <a:off x="914400" y="5394960"/>
            <a:ext cx="274320" cy="274320"/>
          </a:xfrm>
          <a:prstGeom prst="rect">
            <a:avLst/>
          </a:prstGeom>
        </p:spPr>
      </p:pic>
      <p:sp>
        <p:nvSpPr>
          <p:cNvPr id="14" name="Text 9"/>
          <p:cNvSpPr txBox="1"/>
          <p:nvPr/>
        </p:nvSpPr>
        <p:spPr>
          <a:xfrm>
            <a:off x="1508760" y="5120640"/>
            <a:ext cx="9905695" cy="822960"/>
          </a:xfrm>
          <a:prstGeom prst="rect">
            <a:avLst/>
          </a:prstGeom>
          <a:noFill/>
          <a:ln/>
        </p:spPr>
        <p:txBody>
          <a:bodyPr wrap="square" lIns="0" tIns="0" rIns="0" bIns="0" rtlCol="0" anchor="ctr"/>
          <a:lstStyle/>
          <a:p>
            <a:pPr marL="0" indent="0">
              <a:buNone/>
            </a:pPr>
            <a:r>
              <a:rPr lang="en-US" sz="1700" b="1" dirty="0">
                <a:solidFill>
                  <a:schemeClr val="tx2"/>
                </a:solidFill>
              </a:rPr>
              <a:t>Takeaway: a rigorous, time-aware pipeline that works; the current CRM fields are not enough to rank deals.</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9601200" cy="1737360"/>
          </a:xfrm>
          <a:prstGeom prst="rect">
            <a:avLst/>
          </a:prstGeom>
          <a:noFill/>
          <a:ln/>
        </p:spPr>
        <p:txBody>
          <a:bodyPr wrap="square" lIns="0" tIns="0" rIns="0" bIns="0" rtlCol="0" anchor="b"/>
          <a:lstStyle/>
          <a:p>
            <a:pPr marL="0" indent="0" algn="l">
              <a:buNone/>
            </a:pPr>
            <a:r>
              <a:rPr lang="en-US" sz="4200" b="1" dirty="0">
                <a:solidFill>
                  <a:schemeClr val="bg1"/>
                </a:solidFill>
                <a:latin typeface="Cambria" pitchFamily="34" charset="0"/>
                <a:ea typeface="Cambria" pitchFamily="34" charset="-122"/>
                <a:cs typeface="Cambria" pitchFamily="34" charset="-120"/>
              </a:rPr>
              <a:t>Thank you — questions?</a:t>
            </a:r>
            <a:endParaRPr lang="en-US" sz="4200" dirty="0"/>
          </a:p>
        </p:txBody>
      </p:sp>
      <p:sp>
        <p:nvSpPr>
          <p:cNvPr id="3" name="Text 0"/>
          <p:cNvSpPr>
            <a:spLocks noGrp="1"/>
          </p:cNvSpPr>
          <p:nvPr>
            <p:ph type="body" idx="101" hasCustomPrompt="1"/>
          </p:nvPr>
        </p:nvSpPr>
        <p:spPr>
          <a:xfrm>
            <a:off x="548640" y="3794760"/>
            <a:ext cx="9601200" cy="1463040"/>
          </a:xfrm>
          <a:prstGeom prst="rect">
            <a:avLst/>
          </a:prstGeom>
          <a:noFill/>
          <a:ln/>
        </p:spPr>
        <p:txBody>
          <a:bodyPr wrap="square" lIns="0" tIns="0" rIns="0" bIns="0" rtlCol="0" anchor="t"/>
          <a:lstStyle/>
          <a:p>
            <a:pPr marL="0" indent="0">
              <a:buNone/>
            </a:pPr>
            <a:r>
              <a:rPr lang="en-US" sz="1800" dirty="0">
                <a:solidFill>
                  <a:schemeClr val="bg1"/>
                </a:solidFill>
              </a:rPr>
              <a:t>Hong Thai Phan · Nguyen Khanh An Tran · Hoang Thien Bao Bui</a:t>
            </a:r>
            <a:endParaRPr lang="en-US" sz="1800" dirty="0"/>
          </a:p>
          <a:p>
            <a:pPr marL="0" indent="0">
              <a:buNone/>
            </a:pPr>
            <a:r>
              <a:rPr lang="en-US" sz="1200" dirty="0">
                <a:solidFill>
                  <a:schemeClr val="accent5"/>
                </a:solidFill>
              </a:rPr>
              <a:t>References: J. Yan et al., Sales Pipeline Win Propensity Prediction, IFIP/IEEE IM 2015 · A. Rezazadeh, A Generalized Flow for B2B Sales Predictive Modeling, Forecasting 2020 · S. O. Arik and T. Pfister, TabNet, AAAI 2021</a:t>
            </a:r>
            <a:endParaRPr lang="en-US" sz="1800" dirty="0"/>
          </a:p>
        </p:txBody>
      </p:sp>
    </p:spTree>
  </p:cSld>
  <p:clrMapOvr>
    <a:masterClrMapping/>
  </p:clrMapOvr>
</p:sld>
</file>

<file path=ppt/theme/theme1.xml><?xml version="1.0" encoding="utf-8"?>
<a:theme xmlns:a="http://schemas.openxmlformats.org/drawingml/2006/main" name="CRM Pipeline">
  <a:themeElements>
    <a:clrScheme name="CRM Pipeline">
      <a:dk1>
        <a:srgbClr val="16232E"/>
      </a:dk1>
      <a:lt1>
        <a:srgbClr val="FFFFFF"/>
      </a:lt1>
      <a:dk2>
        <a:srgbClr val="0E3B43"/>
      </a:dk2>
      <a:lt2>
        <a:srgbClr val="EEF4F3"/>
      </a:lt2>
      <a:accent1>
        <a:srgbClr val="0F7A6C"/>
      </a:accent1>
      <a:accent2>
        <a:srgbClr val="E39B2E"/>
      </a:accent2>
      <a:accent3>
        <a:srgbClr val="D2554E"/>
      </a:accent3>
      <a:accent4>
        <a:srgbClr val="5B7083"/>
      </a:accent4>
      <a:accent5>
        <a:srgbClr val="9CC5BB"/>
      </a:accent5>
      <a:accent6>
        <a:srgbClr val="2F4858"/>
      </a:accent6>
      <a:hlink>
        <a:srgbClr val="0F7A6C"/>
      </a:hlink>
      <a:folHlink>
        <a:srgbClr val="5B7083"/>
      </a:folHlink>
    </a:clrScheme>
    <a:fontScheme name="CRM Pipel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238</TotalTime>
  <Words>3310</Words>
  <Application>Microsoft Macintosh PowerPoint</Application>
  <PresentationFormat>Widescreen</PresentationFormat>
  <Paragraphs>351</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CRM Pipeline</vt:lpstr>
      <vt:lpstr>Predicting CRM Sales Opportunities Using Machine Learning</vt:lpstr>
      <vt:lpstr>Goal: a win probability and its reasons</vt:lpstr>
      <vt:lpstr>Data: a fictitious B2B hardware seller</vt:lpstr>
      <vt:lpstr>Time-based split: no peeking at the future</vt:lpstr>
      <vt:lpstr>Five models, one shared pipeline</vt:lpstr>
      <vt:lpstr>How MLP and TabNet work</vt:lpstr>
      <vt:lpstr>Why simulate? Original vs simulated data</vt:lpstr>
      <vt:lpstr>Scenario B: does the pipeline learn when signal exists?</vt:lpstr>
      <vt:lpstr>How we simulated 100,000 deals</vt:lpstr>
      <vt:lpstr>Demo</vt:lpstr>
      <vt:lpstr>Result A: no model beats chance</vt:lpstr>
      <vt:lpstr>Scoring open deals, and why each score</vt:lpstr>
      <vt:lpstr>Result B: nonlinear models near the oracle</vt:lpstr>
      <vt:lpstr>TabNet vs MLP: no clear accuracy winner</vt:lpstr>
      <vt:lpstr>Same pipeline, two datasets</vt:lpstr>
      <vt:lpstr>What our project adds</vt:lpstr>
      <vt:lpstr>Limitations and future work</vt:lpstr>
      <vt:lpstr>Thank you — questions?</vt:lpstr>
    </vt:vector>
  </TitlesOfParts>
  <Company>CS 582 Group 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CRM Sales Opportunities Using Machine Learning</dc:title>
  <dc:subject>PptxGenJS Presentation</dc:subject>
  <dc:creator>CS 582 Group 2</dc:creator>
  <cp:lastModifiedBy>Thái Phan</cp:lastModifiedBy>
  <cp:revision>2</cp:revision>
  <dcterms:created xsi:type="dcterms:W3CDTF">2026-10-10T01:24:04Z</dcterms:created>
  <dcterms:modified xsi:type="dcterms:W3CDTF">2026-10-10T19:49:21Z</dcterms:modified>
</cp:coreProperties>
</file>